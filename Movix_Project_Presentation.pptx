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37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5891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035040" y="-1097280"/>
            <a:ext cx="4572000" cy="4572000"/>
          </a:xfrm>
          <a:prstGeom prst="ellipse">
            <a:avLst/>
          </a:prstGeom>
          <a:solidFill>
            <a:srgbClr val="8B5CF6">
              <a:alpha val="25000"/>
            </a:srgbClr>
          </a:solidFill>
          <a:ln w="12700">
            <a:solidFill>
              <a:srgbClr val="8B5CF6">
                <a:alpha val="25000"/>
              </a:srgbClr>
            </a:solidFill>
            <a:prstDash val="solid"/>
          </a:ln>
        </p:spPr>
      </p:sp>
      <p:sp>
        <p:nvSpPr>
          <p:cNvPr id="3" name="Shape 1"/>
          <p:cNvSpPr/>
          <p:nvPr/>
        </p:nvSpPr>
        <p:spPr>
          <a:xfrm>
            <a:off x="6949440" y="2377440"/>
            <a:ext cx="3657600" cy="3657600"/>
          </a:xfrm>
          <a:prstGeom prst="ellipse">
            <a:avLst/>
          </a:prstGeom>
          <a:solidFill>
            <a:srgbClr val="22D3EE">
              <a:alpha val="20000"/>
            </a:srgbClr>
          </a:solidFill>
          <a:ln w="12700">
            <a:solidFill>
              <a:srgbClr val="22D3EE">
                <a:alpha val="20000"/>
              </a:srgbClr>
            </a:solidFill>
            <a:prstDash val="solid"/>
          </a:ln>
        </p:spPr>
      </p:sp>
      <p:sp>
        <p:nvSpPr>
          <p:cNvPr id="4" name="Shape 2"/>
          <p:cNvSpPr/>
          <p:nvPr/>
        </p:nvSpPr>
        <p:spPr>
          <a:xfrm>
            <a:off x="548640" y="1554480"/>
            <a:ext cx="91440" cy="1463040"/>
          </a:xfrm>
          <a:prstGeom prst="rect">
            <a:avLst/>
          </a:prstGeom>
          <a:solidFill>
            <a:srgbClr val="22D3EE"/>
          </a:solidFill>
          <a:ln w="12700">
            <a:solidFill>
              <a:srgbClr val="22D3EE"/>
            </a:solidFill>
            <a:prstDash val="solid"/>
          </a:ln>
        </p:spPr>
      </p:sp>
      <p:sp>
        <p:nvSpPr>
          <p:cNvPr id="5" name="Text 3"/>
          <p:cNvSpPr txBox="1"/>
          <p:nvPr/>
        </p:nvSpPr>
        <p:spPr>
          <a:xfrm>
            <a:off x="868680" y="1417320"/>
            <a:ext cx="7315200" cy="914400"/>
          </a:xfrm>
          <a:prstGeom prst="rect">
            <a:avLst/>
          </a:prstGeom>
          <a:noFill/>
          <a:ln/>
        </p:spPr>
        <p:txBody>
          <a:bodyPr wrap="square" lIns="0" tIns="0" rIns="0" bIns="0" rtlCol="0" anchor="ctr"/>
          <a:lstStyle/>
          <a:p>
            <a:pPr marL="0" indent="0">
              <a:buNone/>
            </a:pPr>
            <a:r>
              <a:rPr lang="en-US" sz="5600" b="1" dirty="0">
                <a:solidFill>
                  <a:srgbClr val="E8EEFB"/>
                </a:solidFill>
                <a:latin typeface="Calibri" pitchFamily="34" charset="0"/>
                <a:ea typeface="Calibri" pitchFamily="34" charset="-122"/>
                <a:cs typeface="Calibri" pitchFamily="34" charset="-120"/>
              </a:rPr>
              <a:t>MOVIX</a:t>
            </a:r>
            <a:endParaRPr lang="en-US" sz="5600" dirty="0"/>
          </a:p>
        </p:txBody>
      </p:sp>
      <p:sp>
        <p:nvSpPr>
          <p:cNvPr id="6" name="Text 4"/>
          <p:cNvSpPr txBox="1"/>
          <p:nvPr/>
        </p:nvSpPr>
        <p:spPr>
          <a:xfrm>
            <a:off x="868680" y="2331720"/>
            <a:ext cx="7315200" cy="457200"/>
          </a:xfrm>
          <a:prstGeom prst="rect">
            <a:avLst/>
          </a:prstGeom>
          <a:noFill/>
          <a:ln/>
        </p:spPr>
        <p:txBody>
          <a:bodyPr wrap="square" lIns="0" tIns="0" rIns="0" bIns="0" rtlCol="0" anchor="ctr"/>
          <a:lstStyle/>
          <a:p>
            <a:pPr marL="0" indent="0">
              <a:buNone/>
            </a:pPr>
            <a:r>
              <a:rPr lang="en-US" sz="2200" dirty="0">
                <a:solidFill>
                  <a:srgbClr val="22D3EE"/>
                </a:solidFill>
                <a:latin typeface="Calibri" pitchFamily="34" charset="0"/>
                <a:ea typeface="Calibri" pitchFamily="34" charset="-122"/>
                <a:cs typeface="Calibri" pitchFamily="34" charset="-120"/>
              </a:rPr>
              <a:t>Movie Ticket Booking Web Application</a:t>
            </a:r>
            <a:endParaRPr lang="en-US" sz="2200" dirty="0"/>
          </a:p>
        </p:txBody>
      </p:sp>
      <p:sp>
        <p:nvSpPr>
          <p:cNvPr id="7" name="Text 5"/>
          <p:cNvSpPr txBox="1"/>
          <p:nvPr/>
        </p:nvSpPr>
        <p:spPr>
          <a:xfrm>
            <a:off x="868680" y="2788920"/>
            <a:ext cx="7315200" cy="365760"/>
          </a:xfrm>
          <a:prstGeom prst="rect">
            <a:avLst/>
          </a:prstGeom>
          <a:noFill/>
          <a:ln/>
        </p:spPr>
        <p:txBody>
          <a:bodyPr wrap="square" lIns="0" tIns="0" rIns="0" bIns="0" rtlCol="0" anchor="ctr"/>
          <a:lstStyle/>
          <a:p>
            <a:pPr marL="0" indent="0">
              <a:buNone/>
            </a:pPr>
            <a:r>
              <a:rPr lang="en-US" sz="1400" dirty="0">
                <a:solidFill>
                  <a:srgbClr val="93A4C3"/>
                </a:solidFill>
                <a:latin typeface="Calibri" pitchFamily="34" charset="0"/>
                <a:ea typeface="Calibri" pitchFamily="34" charset="-122"/>
                <a:cs typeface="Calibri" pitchFamily="34" charset="-120"/>
              </a:rPr>
              <a:t>Project walkthrough: workflow, architecture and React lifecycle</a:t>
            </a:r>
            <a:endParaRPr lang="en-US" sz="1400" dirty="0"/>
          </a:p>
        </p:txBody>
      </p:sp>
      <p:sp>
        <p:nvSpPr>
          <p:cNvPr id="8" name="Text 6"/>
          <p:cNvSpPr txBox="1"/>
          <p:nvPr/>
        </p:nvSpPr>
        <p:spPr>
          <a:xfrm>
            <a:off x="868680" y="4206240"/>
            <a:ext cx="7315200" cy="365760"/>
          </a:xfrm>
          <a:prstGeom prst="rect">
            <a:avLst/>
          </a:prstGeom>
          <a:noFill/>
          <a:ln/>
        </p:spPr>
        <p:txBody>
          <a:bodyPr wrap="square" lIns="0" tIns="0" rIns="0" bIns="0" rtlCol="0" anchor="ctr"/>
          <a:lstStyle/>
          <a:p>
            <a:pPr marL="0" indent="0">
              <a:buNone/>
            </a:pPr>
            <a:r>
              <a:rPr lang="en-US" sz="1400" dirty="0">
                <a:solidFill>
                  <a:srgbClr val="E8EEFB"/>
                </a:solidFill>
                <a:latin typeface="Calibri" pitchFamily="34" charset="0"/>
                <a:ea typeface="Calibri" pitchFamily="34" charset="-122"/>
                <a:cs typeface="Calibri" pitchFamily="34" charset="-120"/>
              </a:rPr>
              <a:t>Developer: Prabhas Dhanikonda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4572000" y="0"/>
            <a:ext cx="4572000" cy="73152"/>
          </a:xfrm>
          <a:prstGeom prst="rect">
            <a:avLst/>
          </a:prstGeom>
          <a:solidFill>
            <a:srgbClr val="8B5CF6"/>
          </a:solidFill>
          <a:ln w="12700">
            <a:solidFill>
              <a:srgbClr val="8B5CF6"/>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8EEFB"/>
                </a:solidFill>
                <a:latin typeface="Calibri" pitchFamily="34" charset="0"/>
                <a:ea typeface="Calibri" pitchFamily="34" charset="-122"/>
                <a:cs typeface="Calibri" pitchFamily="34" charset="-120"/>
              </a:rPr>
              <a:t>Project Overview</a:t>
            </a:r>
            <a:endParaRPr lang="en-US" sz="2800" dirty="0"/>
          </a:p>
        </p:txBody>
      </p:sp>
      <p:sp>
        <p:nvSpPr>
          <p:cNvPr id="5" name="Text 3"/>
          <p:cNvSpPr txBox="1"/>
          <p:nvPr/>
        </p:nvSpPr>
        <p:spPr>
          <a:xfrm>
            <a:off x="8229600" y="4663440"/>
            <a:ext cx="457200" cy="274320"/>
          </a:xfrm>
          <a:prstGeom prst="rect">
            <a:avLst/>
          </a:prstGeom>
          <a:noFill/>
          <a:ln/>
        </p:spPr>
        <p:txBody>
          <a:bodyPr wrap="square" lIns="0" tIns="0" rIns="0" bIns="0" rtlCol="0" anchor="ctr"/>
          <a:lstStyle/>
          <a:p>
            <a:pPr marL="0" indent="0" algn="r">
              <a:buNone/>
            </a:pPr>
            <a:r>
              <a:rPr lang="en-US" sz="1000" dirty="0">
                <a:solidFill>
                  <a:srgbClr val="93A4C3"/>
                </a:solidFill>
                <a:latin typeface="Calibri" pitchFamily="34" charset="0"/>
                <a:ea typeface="Calibri" pitchFamily="34" charset="-122"/>
                <a:cs typeface="Calibri" pitchFamily="34" charset="-120"/>
              </a:rPr>
              <a:t>2</a:t>
            </a:r>
            <a:endParaRPr lang="en-US" sz="1000" dirty="0"/>
          </a:p>
        </p:txBody>
      </p:sp>
      <p:sp>
        <p:nvSpPr>
          <p:cNvPr id="6" name="Text 4"/>
          <p:cNvSpPr txBox="1"/>
          <p:nvPr/>
        </p:nvSpPr>
        <p:spPr>
          <a:xfrm>
            <a:off x="457200" y="1097280"/>
            <a:ext cx="822960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Movix is a React web app for exploring movies and booking tickets end to end</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Users browse and search movies, view details and ratings, pick seats, pay and receive a confirmation</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Movies come from a local, custom JSON data file, so the app works without any external API</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Accounts (login and signup) and previous bookings are kept on the client with LocalStorage</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Responsive Bootstrap UI covering the full journey from first visit to booking history</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4572000" y="0"/>
            <a:ext cx="4572000" cy="73152"/>
          </a:xfrm>
          <a:prstGeom prst="rect">
            <a:avLst/>
          </a:prstGeom>
          <a:solidFill>
            <a:srgbClr val="8B5CF6"/>
          </a:solidFill>
          <a:ln w="12700">
            <a:solidFill>
              <a:srgbClr val="8B5CF6"/>
            </a:solidFill>
            <a:prstDash val="solid"/>
          </a:ln>
        </p:spPr>
      </p:sp>
      <p:sp>
        <p:nvSpPr>
          <p:cNvPr id="4" name="Text 2"/>
          <p:cNvSpPr txBox="1"/>
          <p:nvPr/>
        </p:nvSpPr>
        <p:spPr>
          <a:xfrm>
            <a:off x="457200" y="236220"/>
            <a:ext cx="8229600" cy="640080"/>
          </a:xfrm>
          <a:prstGeom prst="rect">
            <a:avLst/>
          </a:prstGeom>
          <a:noFill/>
          <a:ln/>
        </p:spPr>
        <p:txBody>
          <a:bodyPr wrap="square" lIns="0" tIns="0" rIns="0" bIns="0" rtlCol="0" anchor="ctr"/>
          <a:lstStyle/>
          <a:p>
            <a:pPr marL="0" indent="0">
              <a:buNone/>
            </a:pPr>
            <a:r>
              <a:rPr lang="en-US" sz="2800" b="1" dirty="0">
                <a:solidFill>
                  <a:srgbClr val="E8EEFB"/>
                </a:solidFill>
                <a:latin typeface="Calibri" pitchFamily="34" charset="0"/>
                <a:ea typeface="Calibri" pitchFamily="34" charset="-122"/>
                <a:cs typeface="Calibri" pitchFamily="34" charset="-120"/>
              </a:rPr>
              <a:t>Technology Stack</a:t>
            </a:r>
            <a:endParaRPr lang="en-US" sz="2800" dirty="0"/>
          </a:p>
        </p:txBody>
      </p:sp>
      <p:sp>
        <p:nvSpPr>
          <p:cNvPr id="5" name="Text 3"/>
          <p:cNvSpPr txBox="1"/>
          <p:nvPr/>
        </p:nvSpPr>
        <p:spPr>
          <a:xfrm>
            <a:off x="8229600" y="4663440"/>
            <a:ext cx="457200" cy="274320"/>
          </a:xfrm>
          <a:prstGeom prst="rect">
            <a:avLst/>
          </a:prstGeom>
          <a:noFill/>
          <a:ln/>
        </p:spPr>
        <p:txBody>
          <a:bodyPr wrap="square" lIns="0" tIns="0" rIns="0" bIns="0" rtlCol="0" anchor="ctr"/>
          <a:lstStyle/>
          <a:p>
            <a:pPr marL="0" indent="0" algn="r">
              <a:buNone/>
            </a:pPr>
            <a:r>
              <a:rPr lang="en-US" sz="1000" dirty="0">
                <a:solidFill>
                  <a:srgbClr val="93A4C3"/>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457200" y="1188720"/>
            <a:ext cx="1920240" cy="3108960"/>
          </a:xfrm>
          <a:prstGeom prst="rect">
            <a:avLst/>
          </a:prstGeom>
          <a:solidFill>
            <a:srgbClr val="152238"/>
          </a:solidFill>
          <a:ln w="12700">
            <a:solidFill>
              <a:srgbClr val="24365A"/>
            </a:solidFill>
            <a:prstDash val="solid"/>
          </a:ln>
        </p:spPr>
      </p:sp>
      <p:sp>
        <p:nvSpPr>
          <p:cNvPr id="7" name="Shape 5"/>
          <p:cNvSpPr/>
          <p:nvPr/>
        </p:nvSpPr>
        <p:spPr>
          <a:xfrm>
            <a:off x="457200" y="1188720"/>
            <a:ext cx="1920240" cy="64008"/>
          </a:xfrm>
          <a:prstGeom prst="rect">
            <a:avLst/>
          </a:prstGeom>
          <a:solidFill>
            <a:srgbClr val="22D3EE"/>
          </a:solidFill>
          <a:ln w="12700">
            <a:solidFill>
              <a:srgbClr val="22D3EE"/>
            </a:solidFill>
            <a:prstDash val="solid"/>
          </a:ln>
        </p:spPr>
      </p:sp>
      <p:sp>
        <p:nvSpPr>
          <p:cNvPr id="8" name="Text 6"/>
          <p:cNvSpPr txBox="1"/>
          <p:nvPr/>
        </p:nvSpPr>
        <p:spPr>
          <a:xfrm>
            <a:off x="594360" y="1371600"/>
            <a:ext cx="1645920"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Frontend</a:t>
            </a:r>
            <a:endParaRPr lang="en-US" sz="1500" dirty="0"/>
          </a:p>
        </p:txBody>
      </p:sp>
      <p:sp>
        <p:nvSpPr>
          <p:cNvPr id="9" name="Text 7"/>
          <p:cNvSpPr txBox="1"/>
          <p:nvPr/>
        </p:nvSpPr>
        <p:spPr>
          <a:xfrm>
            <a:off x="594360" y="1874520"/>
            <a:ext cx="1645920" cy="228600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React 19, JavaScript (JSX), HTML5, CSS3, Bootstrap 5, Bootstrap Icons</a:t>
            </a:r>
            <a:endParaRPr lang="en-US" sz="1250" dirty="0"/>
          </a:p>
        </p:txBody>
      </p:sp>
      <p:sp>
        <p:nvSpPr>
          <p:cNvPr id="10" name="Shape 8"/>
          <p:cNvSpPr/>
          <p:nvPr/>
        </p:nvSpPr>
        <p:spPr>
          <a:xfrm>
            <a:off x="2560320" y="1188720"/>
            <a:ext cx="1920240" cy="3108960"/>
          </a:xfrm>
          <a:prstGeom prst="rect">
            <a:avLst/>
          </a:prstGeom>
          <a:solidFill>
            <a:srgbClr val="152238"/>
          </a:solidFill>
          <a:ln w="12700">
            <a:solidFill>
              <a:srgbClr val="24365A"/>
            </a:solidFill>
            <a:prstDash val="solid"/>
          </a:ln>
        </p:spPr>
      </p:sp>
      <p:sp>
        <p:nvSpPr>
          <p:cNvPr id="11" name="Shape 9"/>
          <p:cNvSpPr/>
          <p:nvPr/>
        </p:nvSpPr>
        <p:spPr>
          <a:xfrm>
            <a:off x="2560320" y="1188720"/>
            <a:ext cx="1920240" cy="64008"/>
          </a:xfrm>
          <a:prstGeom prst="rect">
            <a:avLst/>
          </a:prstGeom>
          <a:solidFill>
            <a:srgbClr val="8B5CF6"/>
          </a:solidFill>
          <a:ln w="12700">
            <a:solidFill>
              <a:srgbClr val="8B5CF6"/>
            </a:solidFill>
            <a:prstDash val="solid"/>
          </a:ln>
        </p:spPr>
      </p:sp>
      <p:sp>
        <p:nvSpPr>
          <p:cNvPr id="12" name="Text 10"/>
          <p:cNvSpPr txBox="1"/>
          <p:nvPr/>
        </p:nvSpPr>
        <p:spPr>
          <a:xfrm>
            <a:off x="2697480" y="1371600"/>
            <a:ext cx="1645920"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Routing &amp; UI</a:t>
            </a:r>
            <a:endParaRPr lang="en-US" sz="1500" dirty="0"/>
          </a:p>
        </p:txBody>
      </p:sp>
      <p:sp>
        <p:nvSpPr>
          <p:cNvPr id="13" name="Text 11"/>
          <p:cNvSpPr txBox="1"/>
          <p:nvPr/>
        </p:nvSpPr>
        <p:spPr>
          <a:xfrm>
            <a:off x="2697480" y="1874520"/>
            <a:ext cx="1645920" cy="228600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React Router 7 for pages; qrcode.react for the booking QR code</a:t>
            </a:r>
            <a:endParaRPr lang="en-US" sz="1250" dirty="0"/>
          </a:p>
        </p:txBody>
      </p:sp>
      <p:sp>
        <p:nvSpPr>
          <p:cNvPr id="14" name="Shape 12"/>
          <p:cNvSpPr/>
          <p:nvPr/>
        </p:nvSpPr>
        <p:spPr>
          <a:xfrm>
            <a:off x="4663440" y="1188720"/>
            <a:ext cx="1920240" cy="3108960"/>
          </a:xfrm>
          <a:prstGeom prst="rect">
            <a:avLst/>
          </a:prstGeom>
          <a:solidFill>
            <a:srgbClr val="152238"/>
          </a:solidFill>
          <a:ln w="12700">
            <a:solidFill>
              <a:srgbClr val="24365A"/>
            </a:solidFill>
            <a:prstDash val="solid"/>
          </a:ln>
        </p:spPr>
      </p:sp>
      <p:sp>
        <p:nvSpPr>
          <p:cNvPr id="15" name="Shape 13"/>
          <p:cNvSpPr/>
          <p:nvPr/>
        </p:nvSpPr>
        <p:spPr>
          <a:xfrm>
            <a:off x="4663440" y="1188720"/>
            <a:ext cx="1920240" cy="64008"/>
          </a:xfrm>
          <a:prstGeom prst="rect">
            <a:avLst/>
          </a:prstGeom>
          <a:solidFill>
            <a:srgbClr val="22D3EE"/>
          </a:solidFill>
          <a:ln w="12700">
            <a:solidFill>
              <a:srgbClr val="22D3EE"/>
            </a:solidFill>
            <a:prstDash val="solid"/>
          </a:ln>
        </p:spPr>
      </p:sp>
      <p:sp>
        <p:nvSpPr>
          <p:cNvPr id="16" name="Text 14"/>
          <p:cNvSpPr txBox="1"/>
          <p:nvPr/>
        </p:nvSpPr>
        <p:spPr>
          <a:xfrm>
            <a:off x="4800600" y="1371600"/>
            <a:ext cx="1645920"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Data</a:t>
            </a:r>
            <a:endParaRPr lang="en-US" sz="1500" dirty="0"/>
          </a:p>
        </p:txBody>
      </p:sp>
      <p:sp>
        <p:nvSpPr>
          <p:cNvPr id="17" name="Text 15"/>
          <p:cNvSpPr txBox="1"/>
          <p:nvPr/>
        </p:nvSpPr>
        <p:spPr>
          <a:xfrm>
            <a:off x="4800600" y="1874520"/>
            <a:ext cx="1645920" cy="228600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Local custom JSON for movies; LocalStorage for users and bookings</a:t>
            </a:r>
            <a:endParaRPr lang="en-US" sz="1250" dirty="0"/>
          </a:p>
        </p:txBody>
      </p:sp>
      <p:sp>
        <p:nvSpPr>
          <p:cNvPr id="18" name="Shape 16"/>
          <p:cNvSpPr/>
          <p:nvPr/>
        </p:nvSpPr>
        <p:spPr>
          <a:xfrm>
            <a:off x="6766560" y="1188720"/>
            <a:ext cx="1920240" cy="3108960"/>
          </a:xfrm>
          <a:prstGeom prst="rect">
            <a:avLst/>
          </a:prstGeom>
          <a:solidFill>
            <a:srgbClr val="152238"/>
          </a:solidFill>
          <a:ln w="12700">
            <a:solidFill>
              <a:srgbClr val="24365A"/>
            </a:solidFill>
            <a:prstDash val="solid"/>
          </a:ln>
        </p:spPr>
      </p:sp>
      <p:sp>
        <p:nvSpPr>
          <p:cNvPr id="19" name="Shape 17"/>
          <p:cNvSpPr/>
          <p:nvPr/>
        </p:nvSpPr>
        <p:spPr>
          <a:xfrm>
            <a:off x="6766560" y="1188720"/>
            <a:ext cx="1920240" cy="64008"/>
          </a:xfrm>
          <a:prstGeom prst="rect">
            <a:avLst/>
          </a:prstGeom>
          <a:solidFill>
            <a:srgbClr val="8B5CF6"/>
          </a:solidFill>
          <a:ln w="12700">
            <a:solidFill>
              <a:srgbClr val="8B5CF6"/>
            </a:solidFill>
            <a:prstDash val="solid"/>
          </a:ln>
        </p:spPr>
      </p:sp>
      <p:sp>
        <p:nvSpPr>
          <p:cNvPr id="20" name="Text 18"/>
          <p:cNvSpPr txBox="1"/>
          <p:nvPr/>
        </p:nvSpPr>
        <p:spPr>
          <a:xfrm>
            <a:off x="6903720" y="1371600"/>
            <a:ext cx="1645920"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Tooling</a:t>
            </a:r>
            <a:endParaRPr lang="en-US" sz="1500" dirty="0"/>
          </a:p>
        </p:txBody>
      </p:sp>
      <p:sp>
        <p:nvSpPr>
          <p:cNvPr id="21" name="Text 19"/>
          <p:cNvSpPr txBox="1"/>
          <p:nvPr/>
        </p:nvSpPr>
        <p:spPr>
          <a:xfrm>
            <a:off x="6903720" y="1874520"/>
            <a:ext cx="1645920" cy="228600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Vite 8 build tool, ESLint 10, Git and GitHub, Vercel deployment</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4572000" y="0"/>
            <a:ext cx="4572000" cy="73152"/>
          </a:xfrm>
          <a:prstGeom prst="rect">
            <a:avLst/>
          </a:prstGeom>
          <a:solidFill>
            <a:srgbClr val="8B5CF6"/>
          </a:solidFill>
          <a:ln w="12700">
            <a:solidFill>
              <a:srgbClr val="8B5CF6"/>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8EEFB"/>
                </a:solidFill>
                <a:latin typeface="Calibri" pitchFamily="34" charset="0"/>
                <a:ea typeface="Calibri" pitchFamily="34" charset="-122"/>
                <a:cs typeface="Calibri" pitchFamily="34" charset="-120"/>
              </a:rPr>
              <a:t>Files Analysed: What the Config Files Show</a:t>
            </a:r>
            <a:endParaRPr lang="en-US" sz="2800" dirty="0"/>
          </a:p>
        </p:txBody>
      </p:sp>
      <p:sp>
        <p:nvSpPr>
          <p:cNvPr id="5" name="Text 3"/>
          <p:cNvSpPr txBox="1"/>
          <p:nvPr/>
        </p:nvSpPr>
        <p:spPr>
          <a:xfrm>
            <a:off x="8229600" y="4663440"/>
            <a:ext cx="457200" cy="274320"/>
          </a:xfrm>
          <a:prstGeom prst="rect">
            <a:avLst/>
          </a:prstGeom>
          <a:noFill/>
          <a:ln/>
        </p:spPr>
        <p:txBody>
          <a:bodyPr wrap="square" lIns="0" tIns="0" rIns="0" bIns="0" rtlCol="0" anchor="ctr"/>
          <a:lstStyle/>
          <a:p>
            <a:pPr marL="0" indent="0" algn="r">
              <a:buNone/>
            </a:pPr>
            <a:r>
              <a:rPr lang="en-US" sz="1000" dirty="0">
                <a:solidFill>
                  <a:srgbClr val="93A4C3"/>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457200" y="1188720"/>
            <a:ext cx="1499616" cy="2377440"/>
          </a:xfrm>
          <a:prstGeom prst="rect">
            <a:avLst/>
          </a:prstGeom>
          <a:solidFill>
            <a:srgbClr val="152238"/>
          </a:solidFill>
          <a:ln w="12700">
            <a:solidFill>
              <a:srgbClr val="24365A"/>
            </a:solidFill>
            <a:prstDash val="solid"/>
          </a:ln>
        </p:spPr>
      </p:sp>
      <p:sp>
        <p:nvSpPr>
          <p:cNvPr id="7" name="Shape 5"/>
          <p:cNvSpPr/>
          <p:nvPr/>
        </p:nvSpPr>
        <p:spPr>
          <a:xfrm>
            <a:off x="457200" y="1188720"/>
            <a:ext cx="1499616" cy="64008"/>
          </a:xfrm>
          <a:prstGeom prst="rect">
            <a:avLst/>
          </a:prstGeom>
          <a:solidFill>
            <a:srgbClr val="22D3EE"/>
          </a:solidFill>
          <a:ln w="12700">
            <a:solidFill>
              <a:srgbClr val="22D3EE"/>
            </a:solidFill>
            <a:prstDash val="solid"/>
          </a:ln>
        </p:spPr>
      </p:sp>
      <p:sp>
        <p:nvSpPr>
          <p:cNvPr id="8" name="Text 6"/>
          <p:cNvSpPr txBox="1"/>
          <p:nvPr/>
        </p:nvSpPr>
        <p:spPr>
          <a:xfrm>
            <a:off x="594360" y="1371600"/>
            <a:ext cx="1225296"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package.json</a:t>
            </a:r>
            <a:endParaRPr lang="en-US" sz="1500" dirty="0"/>
          </a:p>
        </p:txBody>
      </p:sp>
      <p:sp>
        <p:nvSpPr>
          <p:cNvPr id="9" name="Text 7"/>
          <p:cNvSpPr txBox="1"/>
          <p:nvPr/>
        </p:nvSpPr>
        <p:spPr>
          <a:xfrm>
            <a:off x="594360" y="1874520"/>
            <a:ext cx="1225296" cy="155448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App name "movix", ES modules, scripts: dev, build, lint, preview</a:t>
            </a:r>
            <a:endParaRPr lang="en-US" sz="1250" dirty="0"/>
          </a:p>
        </p:txBody>
      </p:sp>
      <p:sp>
        <p:nvSpPr>
          <p:cNvPr id="10" name="Shape 8"/>
          <p:cNvSpPr/>
          <p:nvPr/>
        </p:nvSpPr>
        <p:spPr>
          <a:xfrm>
            <a:off x="2139696" y="1188720"/>
            <a:ext cx="1499616" cy="2377440"/>
          </a:xfrm>
          <a:prstGeom prst="rect">
            <a:avLst/>
          </a:prstGeom>
          <a:solidFill>
            <a:srgbClr val="152238"/>
          </a:solidFill>
          <a:ln w="12700">
            <a:solidFill>
              <a:srgbClr val="24365A"/>
            </a:solidFill>
            <a:prstDash val="solid"/>
          </a:ln>
        </p:spPr>
      </p:sp>
      <p:sp>
        <p:nvSpPr>
          <p:cNvPr id="11" name="Shape 9"/>
          <p:cNvSpPr/>
          <p:nvPr/>
        </p:nvSpPr>
        <p:spPr>
          <a:xfrm>
            <a:off x="2139696" y="1188720"/>
            <a:ext cx="1499616" cy="64008"/>
          </a:xfrm>
          <a:prstGeom prst="rect">
            <a:avLst/>
          </a:prstGeom>
          <a:solidFill>
            <a:srgbClr val="8B5CF6"/>
          </a:solidFill>
          <a:ln w="12700">
            <a:solidFill>
              <a:srgbClr val="8B5CF6"/>
            </a:solidFill>
            <a:prstDash val="solid"/>
          </a:ln>
        </p:spPr>
      </p:sp>
      <p:sp>
        <p:nvSpPr>
          <p:cNvPr id="12" name="Text 10"/>
          <p:cNvSpPr txBox="1"/>
          <p:nvPr/>
        </p:nvSpPr>
        <p:spPr>
          <a:xfrm>
            <a:off x="2276856" y="1371600"/>
            <a:ext cx="1225296"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vite.config.js</a:t>
            </a:r>
            <a:endParaRPr lang="en-US" sz="1500" dirty="0"/>
          </a:p>
        </p:txBody>
      </p:sp>
      <p:sp>
        <p:nvSpPr>
          <p:cNvPr id="13" name="Text 11"/>
          <p:cNvSpPr txBox="1"/>
          <p:nvPr/>
        </p:nvSpPr>
        <p:spPr>
          <a:xfrm>
            <a:off x="2276856" y="1874520"/>
            <a:ext cx="1225296" cy="155448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Uses @vitejs/plugin-react only; default dev server and build</a:t>
            </a:r>
            <a:endParaRPr lang="en-US" sz="1250" dirty="0"/>
          </a:p>
        </p:txBody>
      </p:sp>
      <p:sp>
        <p:nvSpPr>
          <p:cNvPr id="14" name="Shape 12"/>
          <p:cNvSpPr/>
          <p:nvPr/>
        </p:nvSpPr>
        <p:spPr>
          <a:xfrm>
            <a:off x="3822192" y="1188720"/>
            <a:ext cx="1499616" cy="2377440"/>
          </a:xfrm>
          <a:prstGeom prst="rect">
            <a:avLst/>
          </a:prstGeom>
          <a:solidFill>
            <a:srgbClr val="152238"/>
          </a:solidFill>
          <a:ln w="12700">
            <a:solidFill>
              <a:srgbClr val="24365A"/>
            </a:solidFill>
            <a:prstDash val="solid"/>
          </a:ln>
        </p:spPr>
      </p:sp>
      <p:sp>
        <p:nvSpPr>
          <p:cNvPr id="15" name="Shape 13"/>
          <p:cNvSpPr/>
          <p:nvPr/>
        </p:nvSpPr>
        <p:spPr>
          <a:xfrm>
            <a:off x="3822192" y="1188720"/>
            <a:ext cx="1499616" cy="64008"/>
          </a:xfrm>
          <a:prstGeom prst="rect">
            <a:avLst/>
          </a:prstGeom>
          <a:solidFill>
            <a:srgbClr val="22D3EE"/>
          </a:solidFill>
          <a:ln w="12700">
            <a:solidFill>
              <a:srgbClr val="22D3EE"/>
            </a:solidFill>
            <a:prstDash val="solid"/>
          </a:ln>
        </p:spPr>
      </p:sp>
      <p:sp>
        <p:nvSpPr>
          <p:cNvPr id="16" name="Text 14"/>
          <p:cNvSpPr txBox="1"/>
          <p:nvPr/>
        </p:nvSpPr>
        <p:spPr>
          <a:xfrm>
            <a:off x="3959352" y="1371600"/>
            <a:ext cx="1225296"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eslint.config.js</a:t>
            </a:r>
            <a:endParaRPr lang="en-US" sz="1500" dirty="0"/>
          </a:p>
        </p:txBody>
      </p:sp>
      <p:sp>
        <p:nvSpPr>
          <p:cNvPr id="17" name="Text 15"/>
          <p:cNvSpPr txBox="1"/>
          <p:nvPr/>
        </p:nvSpPr>
        <p:spPr>
          <a:xfrm>
            <a:off x="3959352" y="1874520"/>
            <a:ext cx="1225296" cy="155448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Flat config: JS recommended, React Hooks rules, React Refresh (Vite)</a:t>
            </a:r>
            <a:endParaRPr lang="en-US" sz="1250" dirty="0"/>
          </a:p>
        </p:txBody>
      </p:sp>
      <p:sp>
        <p:nvSpPr>
          <p:cNvPr id="18" name="Shape 16"/>
          <p:cNvSpPr/>
          <p:nvPr/>
        </p:nvSpPr>
        <p:spPr>
          <a:xfrm>
            <a:off x="5504688" y="1188720"/>
            <a:ext cx="1499616" cy="2377440"/>
          </a:xfrm>
          <a:prstGeom prst="rect">
            <a:avLst/>
          </a:prstGeom>
          <a:solidFill>
            <a:srgbClr val="152238"/>
          </a:solidFill>
          <a:ln w="12700">
            <a:solidFill>
              <a:srgbClr val="24365A"/>
            </a:solidFill>
            <a:prstDash val="solid"/>
          </a:ln>
        </p:spPr>
      </p:sp>
      <p:sp>
        <p:nvSpPr>
          <p:cNvPr id="19" name="Shape 17"/>
          <p:cNvSpPr/>
          <p:nvPr/>
        </p:nvSpPr>
        <p:spPr>
          <a:xfrm>
            <a:off x="5504688" y="1188720"/>
            <a:ext cx="1499616" cy="64008"/>
          </a:xfrm>
          <a:prstGeom prst="rect">
            <a:avLst/>
          </a:prstGeom>
          <a:solidFill>
            <a:srgbClr val="8B5CF6"/>
          </a:solidFill>
          <a:ln w="12700">
            <a:solidFill>
              <a:srgbClr val="8B5CF6"/>
            </a:solidFill>
            <a:prstDash val="solid"/>
          </a:ln>
        </p:spPr>
      </p:sp>
      <p:sp>
        <p:nvSpPr>
          <p:cNvPr id="20" name="Text 18"/>
          <p:cNvSpPr txBox="1"/>
          <p:nvPr/>
        </p:nvSpPr>
        <p:spPr>
          <a:xfrm>
            <a:off x="5641848" y="1371600"/>
            <a:ext cx="1225296"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index.html</a:t>
            </a:r>
            <a:endParaRPr lang="en-US" sz="1500" dirty="0"/>
          </a:p>
        </p:txBody>
      </p:sp>
      <p:sp>
        <p:nvSpPr>
          <p:cNvPr id="21" name="Text 19"/>
          <p:cNvSpPr txBox="1"/>
          <p:nvPr/>
        </p:nvSpPr>
        <p:spPr>
          <a:xfrm>
            <a:off x="5641848" y="1874520"/>
            <a:ext cx="1225296" cy="155448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Single #root div, loads /src/main.jsx as a module; title "MOVIX"</a:t>
            </a:r>
            <a:endParaRPr lang="en-US" sz="1250" dirty="0"/>
          </a:p>
        </p:txBody>
      </p:sp>
      <p:sp>
        <p:nvSpPr>
          <p:cNvPr id="22" name="Shape 20"/>
          <p:cNvSpPr/>
          <p:nvPr/>
        </p:nvSpPr>
        <p:spPr>
          <a:xfrm>
            <a:off x="7187184" y="1188720"/>
            <a:ext cx="1499616" cy="2377440"/>
          </a:xfrm>
          <a:prstGeom prst="rect">
            <a:avLst/>
          </a:prstGeom>
          <a:solidFill>
            <a:srgbClr val="152238"/>
          </a:solidFill>
          <a:ln w="12700">
            <a:solidFill>
              <a:srgbClr val="24365A"/>
            </a:solidFill>
            <a:prstDash val="solid"/>
          </a:ln>
        </p:spPr>
      </p:sp>
      <p:sp>
        <p:nvSpPr>
          <p:cNvPr id="23" name="Shape 21"/>
          <p:cNvSpPr/>
          <p:nvPr/>
        </p:nvSpPr>
        <p:spPr>
          <a:xfrm>
            <a:off x="7187184" y="1188720"/>
            <a:ext cx="1499616" cy="64008"/>
          </a:xfrm>
          <a:prstGeom prst="rect">
            <a:avLst/>
          </a:prstGeom>
          <a:solidFill>
            <a:srgbClr val="22D3EE"/>
          </a:solidFill>
          <a:ln w="12700">
            <a:solidFill>
              <a:srgbClr val="22D3EE"/>
            </a:solidFill>
            <a:prstDash val="solid"/>
          </a:ln>
        </p:spPr>
      </p:sp>
      <p:sp>
        <p:nvSpPr>
          <p:cNvPr id="24" name="Text 22"/>
          <p:cNvSpPr txBox="1"/>
          <p:nvPr/>
        </p:nvSpPr>
        <p:spPr>
          <a:xfrm>
            <a:off x="7324344" y="1371600"/>
            <a:ext cx="1225296"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README.md</a:t>
            </a:r>
            <a:endParaRPr lang="en-US" sz="1500" dirty="0"/>
          </a:p>
        </p:txBody>
      </p:sp>
      <p:sp>
        <p:nvSpPr>
          <p:cNvPr id="25" name="Text 23"/>
          <p:cNvSpPr txBox="1"/>
          <p:nvPr/>
        </p:nvSpPr>
        <p:spPr>
          <a:xfrm>
            <a:off x="7324344" y="1874520"/>
            <a:ext cx="1225296" cy="155448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Features, stack and setup steps; no external API is needed for movie data</a:t>
            </a:r>
            <a:endParaRPr lang="en-US" sz="1250" dirty="0"/>
          </a:p>
        </p:txBody>
      </p:sp>
      <p:sp>
        <p:nvSpPr>
          <p:cNvPr id="26" name="Text 24"/>
          <p:cNvSpPr txBox="1"/>
          <p:nvPr/>
        </p:nvSpPr>
        <p:spPr>
          <a:xfrm>
            <a:off x="457200" y="3931920"/>
            <a:ext cx="7589520" cy="274320"/>
          </a:xfrm>
          <a:prstGeom prst="rect">
            <a:avLst/>
          </a:prstGeom>
          <a:noFill/>
          <a:ln/>
        </p:spPr>
        <p:txBody>
          <a:bodyPr wrap="square" lIns="0" tIns="0" rIns="0" bIns="0" rtlCol="0" anchor="ctr"/>
          <a:lstStyle/>
          <a:p>
            <a:pPr marL="0" indent="0">
              <a:buNone/>
            </a:pPr>
            <a:r>
              <a:rPr lang="en-US" sz="1000" i="1" dirty="0">
                <a:solidFill>
                  <a:srgbClr val="93A4C3"/>
                </a:solidFill>
                <a:latin typeface="Calibri" pitchFamily="34" charset="0"/>
                <a:ea typeface="Calibri" pitchFamily="34" charset="-122"/>
                <a:cs typeface="Calibri" pitchFamily="34" charset="-120"/>
              </a:rPr>
              <a:t>src/ files (main.jsx, App.jsx, pages, components, JSON data) are covered on later slides once reviewed.</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4572000" y="0"/>
            <a:ext cx="4572000" cy="73152"/>
          </a:xfrm>
          <a:prstGeom prst="rect">
            <a:avLst/>
          </a:prstGeom>
          <a:solidFill>
            <a:srgbClr val="8B5CF6"/>
          </a:solidFill>
          <a:ln w="12700">
            <a:solidFill>
              <a:srgbClr val="8B5CF6"/>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8EEFB"/>
                </a:solidFill>
                <a:latin typeface="Calibri" pitchFamily="34" charset="0"/>
                <a:ea typeface="Calibri" pitchFamily="34" charset="-122"/>
                <a:cs typeface="Calibri" pitchFamily="34" charset="-120"/>
              </a:rPr>
              <a:t>Dependencies Explained</a:t>
            </a:r>
            <a:endParaRPr lang="en-US" sz="2800" dirty="0"/>
          </a:p>
        </p:txBody>
      </p:sp>
      <p:sp>
        <p:nvSpPr>
          <p:cNvPr id="5" name="Text 3"/>
          <p:cNvSpPr txBox="1"/>
          <p:nvPr/>
        </p:nvSpPr>
        <p:spPr>
          <a:xfrm>
            <a:off x="8229600" y="4663440"/>
            <a:ext cx="457200" cy="274320"/>
          </a:xfrm>
          <a:prstGeom prst="rect">
            <a:avLst/>
          </a:prstGeom>
          <a:noFill/>
          <a:ln/>
        </p:spPr>
        <p:txBody>
          <a:bodyPr wrap="square" lIns="0" tIns="0" rIns="0" bIns="0" rtlCol="0" anchor="ctr"/>
          <a:lstStyle/>
          <a:p>
            <a:pPr marL="0" indent="0" algn="r">
              <a:buNone/>
            </a:pPr>
            <a:r>
              <a:rPr lang="en-US" sz="1000" dirty="0">
                <a:solidFill>
                  <a:srgbClr val="93A4C3"/>
                </a:solidFill>
                <a:latin typeface="Calibri" pitchFamily="34" charset="0"/>
                <a:ea typeface="Calibri" pitchFamily="34" charset="-122"/>
                <a:cs typeface="Calibri" pitchFamily="34" charset="-120"/>
              </a:rPr>
              <a:t>5</a:t>
            </a:r>
            <a:endParaRPr lang="en-US" sz="1000" dirty="0"/>
          </a:p>
        </p:txBody>
      </p:sp>
      <p:sp>
        <p:nvSpPr>
          <p:cNvPr id="6" name="Text 4"/>
          <p:cNvSpPr txBox="1"/>
          <p:nvPr/>
        </p:nvSpPr>
        <p:spPr>
          <a:xfrm>
            <a:off x="457200" y="1097280"/>
            <a:ext cx="822960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react / react-dom 19: component model, hooks and rendering to the DOM</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react-router-dom 7: client-side routing between Home, Details, Seats, Payment, Bookings</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bootstrap and bootstrap-icons: grid, components and icons for the responsive UI</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qrcode.react: generates the QR code shown on the booking confirmation</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Dev: vite, @vitejs/plugin-react, eslint, react-hooks and react-refresh plugins, globals</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4572000" y="0"/>
            <a:ext cx="4572000" cy="73152"/>
          </a:xfrm>
          <a:prstGeom prst="rect">
            <a:avLst/>
          </a:prstGeom>
          <a:solidFill>
            <a:srgbClr val="8B5CF6"/>
          </a:solidFill>
          <a:ln w="12700">
            <a:solidFill>
              <a:srgbClr val="8B5CF6"/>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8EEFB"/>
                </a:solidFill>
                <a:latin typeface="Calibri" pitchFamily="34" charset="0"/>
                <a:ea typeface="Calibri" pitchFamily="34" charset="-122"/>
                <a:cs typeface="Calibri" pitchFamily="34" charset="-120"/>
              </a:rPr>
              <a:t>Build, Lint and Dev Workflow</a:t>
            </a:r>
            <a:endParaRPr lang="en-US" sz="2800" dirty="0"/>
          </a:p>
        </p:txBody>
      </p:sp>
      <p:sp>
        <p:nvSpPr>
          <p:cNvPr id="5" name="Text 3"/>
          <p:cNvSpPr txBox="1"/>
          <p:nvPr/>
        </p:nvSpPr>
        <p:spPr>
          <a:xfrm>
            <a:off x="8229600" y="4663440"/>
            <a:ext cx="457200" cy="274320"/>
          </a:xfrm>
          <a:prstGeom prst="rect">
            <a:avLst/>
          </a:prstGeom>
          <a:noFill/>
          <a:ln/>
        </p:spPr>
        <p:txBody>
          <a:bodyPr wrap="square" lIns="0" tIns="0" rIns="0" bIns="0" rtlCol="0" anchor="ctr"/>
          <a:lstStyle/>
          <a:p>
            <a:pPr marL="0" indent="0" algn="r">
              <a:buNone/>
            </a:pPr>
            <a:r>
              <a:rPr lang="en-US" sz="1000" dirty="0">
                <a:solidFill>
                  <a:srgbClr val="93A4C3"/>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457200" y="1280160"/>
            <a:ext cx="1920240" cy="2377440"/>
          </a:xfrm>
          <a:prstGeom prst="rect">
            <a:avLst/>
          </a:prstGeom>
          <a:solidFill>
            <a:srgbClr val="152238"/>
          </a:solidFill>
          <a:ln w="12700">
            <a:solidFill>
              <a:srgbClr val="24365A"/>
            </a:solidFill>
            <a:prstDash val="solid"/>
          </a:ln>
        </p:spPr>
      </p:sp>
      <p:sp>
        <p:nvSpPr>
          <p:cNvPr id="7" name="Shape 5"/>
          <p:cNvSpPr/>
          <p:nvPr/>
        </p:nvSpPr>
        <p:spPr>
          <a:xfrm>
            <a:off x="457200" y="1280160"/>
            <a:ext cx="1920240" cy="64008"/>
          </a:xfrm>
          <a:prstGeom prst="rect">
            <a:avLst/>
          </a:prstGeom>
          <a:solidFill>
            <a:srgbClr val="22D3EE"/>
          </a:solidFill>
          <a:ln w="12700">
            <a:solidFill>
              <a:srgbClr val="22D3EE"/>
            </a:solidFill>
            <a:prstDash val="solid"/>
          </a:ln>
        </p:spPr>
      </p:sp>
      <p:sp>
        <p:nvSpPr>
          <p:cNvPr id="8" name="Text 6"/>
          <p:cNvSpPr txBox="1"/>
          <p:nvPr/>
        </p:nvSpPr>
        <p:spPr>
          <a:xfrm>
            <a:off x="594360" y="1463040"/>
            <a:ext cx="1645920"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npm run dev</a:t>
            </a:r>
            <a:endParaRPr lang="en-US" sz="1500" dirty="0"/>
          </a:p>
        </p:txBody>
      </p:sp>
      <p:sp>
        <p:nvSpPr>
          <p:cNvPr id="9" name="Text 7"/>
          <p:cNvSpPr txBox="1"/>
          <p:nvPr/>
        </p:nvSpPr>
        <p:spPr>
          <a:xfrm>
            <a:off x="594360" y="1965960"/>
            <a:ext cx="1645920" cy="155448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Starts the Vite dev server with fast hot module replacement</a:t>
            </a:r>
            <a:endParaRPr lang="en-US" sz="1250" dirty="0"/>
          </a:p>
        </p:txBody>
      </p:sp>
      <p:sp>
        <p:nvSpPr>
          <p:cNvPr id="10" name="Shape 8"/>
          <p:cNvSpPr/>
          <p:nvPr/>
        </p:nvSpPr>
        <p:spPr>
          <a:xfrm>
            <a:off x="2560320" y="1280160"/>
            <a:ext cx="1920240" cy="2377440"/>
          </a:xfrm>
          <a:prstGeom prst="rect">
            <a:avLst/>
          </a:prstGeom>
          <a:solidFill>
            <a:srgbClr val="152238"/>
          </a:solidFill>
          <a:ln w="12700">
            <a:solidFill>
              <a:srgbClr val="24365A"/>
            </a:solidFill>
            <a:prstDash val="solid"/>
          </a:ln>
        </p:spPr>
      </p:sp>
      <p:sp>
        <p:nvSpPr>
          <p:cNvPr id="11" name="Shape 9"/>
          <p:cNvSpPr/>
          <p:nvPr/>
        </p:nvSpPr>
        <p:spPr>
          <a:xfrm>
            <a:off x="2560320" y="1280160"/>
            <a:ext cx="1920240" cy="64008"/>
          </a:xfrm>
          <a:prstGeom prst="rect">
            <a:avLst/>
          </a:prstGeom>
          <a:solidFill>
            <a:srgbClr val="8B5CF6"/>
          </a:solidFill>
          <a:ln w="12700">
            <a:solidFill>
              <a:srgbClr val="8B5CF6"/>
            </a:solidFill>
            <a:prstDash val="solid"/>
          </a:ln>
        </p:spPr>
      </p:sp>
      <p:sp>
        <p:nvSpPr>
          <p:cNvPr id="12" name="Text 10"/>
          <p:cNvSpPr txBox="1"/>
          <p:nvPr/>
        </p:nvSpPr>
        <p:spPr>
          <a:xfrm>
            <a:off x="2697480" y="1463040"/>
            <a:ext cx="1645920"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npm run build</a:t>
            </a:r>
            <a:endParaRPr lang="en-US" sz="1500" dirty="0"/>
          </a:p>
        </p:txBody>
      </p:sp>
      <p:sp>
        <p:nvSpPr>
          <p:cNvPr id="13" name="Text 11"/>
          <p:cNvSpPr txBox="1"/>
          <p:nvPr/>
        </p:nvSpPr>
        <p:spPr>
          <a:xfrm>
            <a:off x="2697480" y="1965960"/>
            <a:ext cx="1645920" cy="155448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Produces an optimised production bundle in dist/, JSON data included</a:t>
            </a:r>
            <a:endParaRPr lang="en-US" sz="1250" dirty="0"/>
          </a:p>
        </p:txBody>
      </p:sp>
      <p:sp>
        <p:nvSpPr>
          <p:cNvPr id="14" name="Shape 12"/>
          <p:cNvSpPr/>
          <p:nvPr/>
        </p:nvSpPr>
        <p:spPr>
          <a:xfrm>
            <a:off x="4663440" y="1280160"/>
            <a:ext cx="1920240" cy="2377440"/>
          </a:xfrm>
          <a:prstGeom prst="rect">
            <a:avLst/>
          </a:prstGeom>
          <a:solidFill>
            <a:srgbClr val="152238"/>
          </a:solidFill>
          <a:ln w="12700">
            <a:solidFill>
              <a:srgbClr val="24365A"/>
            </a:solidFill>
            <a:prstDash val="solid"/>
          </a:ln>
        </p:spPr>
      </p:sp>
      <p:sp>
        <p:nvSpPr>
          <p:cNvPr id="15" name="Shape 13"/>
          <p:cNvSpPr/>
          <p:nvPr/>
        </p:nvSpPr>
        <p:spPr>
          <a:xfrm>
            <a:off x="4663440" y="1280160"/>
            <a:ext cx="1920240" cy="64008"/>
          </a:xfrm>
          <a:prstGeom prst="rect">
            <a:avLst/>
          </a:prstGeom>
          <a:solidFill>
            <a:srgbClr val="22D3EE"/>
          </a:solidFill>
          <a:ln w="12700">
            <a:solidFill>
              <a:srgbClr val="22D3EE"/>
            </a:solidFill>
            <a:prstDash val="solid"/>
          </a:ln>
        </p:spPr>
      </p:sp>
      <p:sp>
        <p:nvSpPr>
          <p:cNvPr id="16" name="Text 14"/>
          <p:cNvSpPr txBox="1"/>
          <p:nvPr/>
        </p:nvSpPr>
        <p:spPr>
          <a:xfrm>
            <a:off x="4800600" y="1463040"/>
            <a:ext cx="1645920"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npm run lint</a:t>
            </a:r>
            <a:endParaRPr lang="en-US" sz="1500" dirty="0"/>
          </a:p>
        </p:txBody>
      </p:sp>
      <p:sp>
        <p:nvSpPr>
          <p:cNvPr id="17" name="Text 15"/>
          <p:cNvSpPr txBox="1"/>
          <p:nvPr/>
        </p:nvSpPr>
        <p:spPr>
          <a:xfrm>
            <a:off x="4800600" y="1965960"/>
            <a:ext cx="1645920" cy="155448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ESLint checks code; Hooks rules catch dependency and ordering mistakes</a:t>
            </a:r>
            <a:endParaRPr lang="en-US" sz="1250" dirty="0"/>
          </a:p>
        </p:txBody>
      </p:sp>
      <p:sp>
        <p:nvSpPr>
          <p:cNvPr id="18" name="Shape 16"/>
          <p:cNvSpPr/>
          <p:nvPr/>
        </p:nvSpPr>
        <p:spPr>
          <a:xfrm>
            <a:off x="6766560" y="1280160"/>
            <a:ext cx="1920240" cy="2377440"/>
          </a:xfrm>
          <a:prstGeom prst="rect">
            <a:avLst/>
          </a:prstGeom>
          <a:solidFill>
            <a:srgbClr val="152238"/>
          </a:solidFill>
          <a:ln w="12700">
            <a:solidFill>
              <a:srgbClr val="24365A"/>
            </a:solidFill>
            <a:prstDash val="solid"/>
          </a:ln>
        </p:spPr>
      </p:sp>
      <p:sp>
        <p:nvSpPr>
          <p:cNvPr id="19" name="Shape 17"/>
          <p:cNvSpPr/>
          <p:nvPr/>
        </p:nvSpPr>
        <p:spPr>
          <a:xfrm>
            <a:off x="6766560" y="1280160"/>
            <a:ext cx="1920240" cy="64008"/>
          </a:xfrm>
          <a:prstGeom prst="rect">
            <a:avLst/>
          </a:prstGeom>
          <a:solidFill>
            <a:srgbClr val="8B5CF6"/>
          </a:solidFill>
          <a:ln w="12700">
            <a:solidFill>
              <a:srgbClr val="8B5CF6"/>
            </a:solidFill>
            <a:prstDash val="solid"/>
          </a:ln>
        </p:spPr>
      </p:sp>
      <p:sp>
        <p:nvSpPr>
          <p:cNvPr id="20" name="Text 18"/>
          <p:cNvSpPr txBox="1"/>
          <p:nvPr/>
        </p:nvSpPr>
        <p:spPr>
          <a:xfrm>
            <a:off x="6903720" y="1463040"/>
            <a:ext cx="1645920"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npm run preview</a:t>
            </a:r>
            <a:endParaRPr lang="en-US" sz="1500" dirty="0"/>
          </a:p>
        </p:txBody>
      </p:sp>
      <p:sp>
        <p:nvSpPr>
          <p:cNvPr id="21" name="Text 19"/>
          <p:cNvSpPr txBox="1"/>
          <p:nvPr/>
        </p:nvSpPr>
        <p:spPr>
          <a:xfrm>
            <a:off x="6903720" y="1965960"/>
            <a:ext cx="1645920" cy="155448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Serves the built bundle locally before deploying</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4572000" y="0"/>
            <a:ext cx="4572000" cy="73152"/>
          </a:xfrm>
          <a:prstGeom prst="rect">
            <a:avLst/>
          </a:prstGeom>
          <a:solidFill>
            <a:srgbClr val="8B5CF6"/>
          </a:solidFill>
          <a:ln w="12700">
            <a:solidFill>
              <a:srgbClr val="8B5CF6"/>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8EEFB"/>
                </a:solidFill>
                <a:latin typeface="Calibri" pitchFamily="34" charset="0"/>
                <a:ea typeface="Calibri" pitchFamily="34" charset="-122"/>
                <a:cs typeface="Calibri" pitchFamily="34" charset="-120"/>
              </a:rPr>
              <a:t>Application Entry Flow</a:t>
            </a:r>
            <a:endParaRPr lang="en-US" sz="2800" dirty="0"/>
          </a:p>
        </p:txBody>
      </p:sp>
      <p:sp>
        <p:nvSpPr>
          <p:cNvPr id="5" name="Text 3"/>
          <p:cNvSpPr txBox="1"/>
          <p:nvPr/>
        </p:nvSpPr>
        <p:spPr>
          <a:xfrm>
            <a:off x="457200" y="4617720"/>
            <a:ext cx="7315200" cy="274320"/>
          </a:xfrm>
          <a:prstGeom prst="rect">
            <a:avLst/>
          </a:prstGeom>
          <a:noFill/>
          <a:ln/>
        </p:spPr>
        <p:txBody>
          <a:bodyPr wrap="square" lIns="0" tIns="0" rIns="0" bIns="0" rtlCol="0" anchor="ctr"/>
          <a:lstStyle/>
          <a:p>
            <a:pPr marL="0" indent="0">
              <a:buNone/>
            </a:pPr>
            <a:r>
              <a:rPr lang="en-US" sz="1000" i="1" dirty="0">
                <a:solidFill>
                  <a:srgbClr val="93A4C3"/>
                </a:solidFill>
                <a:latin typeface="Calibri" pitchFamily="34" charset="0"/>
                <a:ea typeface="Calibri" pitchFamily="34" charset="-122"/>
                <a:cs typeface="Calibri" pitchFamily="34" charset="-120"/>
              </a:rPr>
              <a:t>Inferred from README and dependencies - to be confirmed against src/ code.</a:t>
            </a:r>
            <a:endParaRPr lang="en-US" sz="1000" dirty="0"/>
          </a:p>
        </p:txBody>
      </p:sp>
      <p:sp>
        <p:nvSpPr>
          <p:cNvPr id="6" name="Text 4"/>
          <p:cNvSpPr txBox="1"/>
          <p:nvPr/>
        </p:nvSpPr>
        <p:spPr>
          <a:xfrm>
            <a:off x="8229600" y="4663440"/>
            <a:ext cx="457200" cy="274320"/>
          </a:xfrm>
          <a:prstGeom prst="rect">
            <a:avLst/>
          </a:prstGeom>
          <a:noFill/>
          <a:ln/>
        </p:spPr>
        <p:txBody>
          <a:bodyPr wrap="square" lIns="0" tIns="0" rIns="0" bIns="0" rtlCol="0" anchor="ctr"/>
          <a:lstStyle/>
          <a:p>
            <a:pPr marL="0" indent="0" algn="r">
              <a:buNone/>
            </a:pPr>
            <a:r>
              <a:rPr lang="en-US" sz="1000" dirty="0">
                <a:solidFill>
                  <a:srgbClr val="93A4C3"/>
                </a:solidFill>
                <a:latin typeface="Calibri" pitchFamily="34" charset="0"/>
                <a:ea typeface="Calibri" pitchFamily="34" charset="-122"/>
                <a:cs typeface="Calibri" pitchFamily="34" charset="-120"/>
              </a:rPr>
              <a:t>7</a:t>
            </a:r>
            <a:endParaRPr lang="en-US" sz="1000" dirty="0"/>
          </a:p>
        </p:txBody>
      </p:sp>
      <p:sp>
        <p:nvSpPr>
          <p:cNvPr id="7" name="Shape 5"/>
          <p:cNvSpPr/>
          <p:nvPr/>
        </p:nvSpPr>
        <p:spPr>
          <a:xfrm>
            <a:off x="457200" y="1645920"/>
            <a:ext cx="1371600" cy="822960"/>
          </a:xfrm>
          <a:prstGeom prst="roundRect">
            <a:avLst>
              <a:gd name="adj" fmla="val 11111"/>
            </a:avLst>
          </a:prstGeom>
          <a:solidFill>
            <a:srgbClr val="22D3EE"/>
          </a:solidFill>
          <a:ln w="15875">
            <a:solidFill>
              <a:srgbClr val="22D3EE"/>
            </a:solidFill>
            <a:prstDash val="solid"/>
          </a:ln>
        </p:spPr>
      </p:sp>
      <p:sp>
        <p:nvSpPr>
          <p:cNvPr id="8" name="Text 6"/>
          <p:cNvSpPr txBox="1"/>
          <p:nvPr/>
        </p:nvSpPr>
        <p:spPr>
          <a:xfrm>
            <a:off x="457200" y="1645920"/>
            <a:ext cx="1371600" cy="822960"/>
          </a:xfrm>
          <a:prstGeom prst="rect">
            <a:avLst/>
          </a:prstGeom>
          <a:noFill/>
          <a:ln/>
        </p:spPr>
        <p:txBody>
          <a:bodyPr wrap="square" lIns="0" tIns="0" rIns="0" bIns="0" rtlCol="0" anchor="ctr"/>
          <a:lstStyle/>
          <a:p>
            <a:pPr marL="0" indent="0" algn="ctr">
              <a:buNone/>
            </a:pPr>
            <a:r>
              <a:rPr lang="en-US" sz="1500" b="1" dirty="0">
                <a:solidFill>
                  <a:srgbClr val="06121F"/>
                </a:solidFill>
                <a:latin typeface="Calibri" pitchFamily="34" charset="0"/>
                <a:ea typeface="Calibri" pitchFamily="34" charset="-122"/>
                <a:cs typeface="Calibri" pitchFamily="34" charset="-120"/>
              </a:rPr>
              <a:t>index.html</a:t>
            </a:r>
            <a:endParaRPr lang="en-US" sz="1500" dirty="0"/>
          </a:p>
        </p:txBody>
      </p:sp>
      <p:sp>
        <p:nvSpPr>
          <p:cNvPr id="9" name="Text 7"/>
          <p:cNvSpPr txBox="1"/>
          <p:nvPr/>
        </p:nvSpPr>
        <p:spPr>
          <a:xfrm>
            <a:off x="1828800" y="1645920"/>
            <a:ext cx="342900" cy="822960"/>
          </a:xfrm>
          <a:prstGeom prst="rect">
            <a:avLst/>
          </a:prstGeom>
          <a:noFill/>
          <a:ln/>
        </p:spPr>
        <p:txBody>
          <a:bodyPr wrap="square" lIns="0" tIns="0" rIns="0" bIns="0" rtlCol="0" anchor="ctr"/>
          <a:lstStyle/>
          <a:p>
            <a:pPr marL="0" indent="0" algn="ctr">
              <a:buNone/>
            </a:pPr>
            <a:r>
              <a:rPr lang="en-US" sz="1800" b="1" dirty="0">
                <a:solidFill>
                  <a:srgbClr val="22D3EE"/>
                </a:solidFill>
                <a:latin typeface="Calibri" pitchFamily="34" charset="0"/>
                <a:ea typeface="Calibri" pitchFamily="34" charset="-122"/>
                <a:cs typeface="Calibri" pitchFamily="34" charset="-120"/>
              </a:rPr>
              <a:t>&gt;</a:t>
            </a:r>
            <a:endParaRPr lang="en-US" sz="1800" dirty="0"/>
          </a:p>
        </p:txBody>
      </p:sp>
      <p:sp>
        <p:nvSpPr>
          <p:cNvPr id="10" name="Shape 8"/>
          <p:cNvSpPr/>
          <p:nvPr/>
        </p:nvSpPr>
        <p:spPr>
          <a:xfrm>
            <a:off x="2171700" y="1645920"/>
            <a:ext cx="1371600" cy="822960"/>
          </a:xfrm>
          <a:prstGeom prst="roundRect">
            <a:avLst>
              <a:gd name="adj" fmla="val 11111"/>
            </a:avLst>
          </a:prstGeom>
          <a:solidFill>
            <a:srgbClr val="152238"/>
          </a:solidFill>
          <a:ln w="15875">
            <a:solidFill>
              <a:srgbClr val="8B5CF6"/>
            </a:solidFill>
            <a:prstDash val="solid"/>
          </a:ln>
        </p:spPr>
      </p:sp>
      <p:sp>
        <p:nvSpPr>
          <p:cNvPr id="11" name="Text 9"/>
          <p:cNvSpPr txBox="1"/>
          <p:nvPr/>
        </p:nvSpPr>
        <p:spPr>
          <a:xfrm>
            <a:off x="2171700" y="1645920"/>
            <a:ext cx="1371600" cy="822960"/>
          </a:xfrm>
          <a:prstGeom prst="rect">
            <a:avLst/>
          </a:prstGeom>
          <a:noFill/>
          <a:ln/>
        </p:spPr>
        <p:txBody>
          <a:bodyPr wrap="square" lIns="0" tIns="0" rIns="0" bIns="0" rtlCol="0" anchor="ctr"/>
          <a:lstStyle/>
          <a:p>
            <a:pPr marL="0" indent="0" algn="ctr">
              <a:buNone/>
            </a:pPr>
            <a:r>
              <a:rPr lang="en-US" sz="1500" b="1" dirty="0">
                <a:solidFill>
                  <a:srgbClr val="E8EEFB"/>
                </a:solidFill>
                <a:latin typeface="Calibri" pitchFamily="34" charset="0"/>
                <a:ea typeface="Calibri" pitchFamily="34" charset="-122"/>
                <a:cs typeface="Calibri" pitchFamily="34" charset="-120"/>
              </a:rPr>
              <a:t>main.jsx</a:t>
            </a:r>
            <a:endParaRPr lang="en-US" sz="1500" dirty="0"/>
          </a:p>
        </p:txBody>
      </p:sp>
      <p:sp>
        <p:nvSpPr>
          <p:cNvPr id="12" name="Text 10"/>
          <p:cNvSpPr txBox="1"/>
          <p:nvPr/>
        </p:nvSpPr>
        <p:spPr>
          <a:xfrm>
            <a:off x="3543300" y="1645920"/>
            <a:ext cx="342900" cy="822960"/>
          </a:xfrm>
          <a:prstGeom prst="rect">
            <a:avLst/>
          </a:prstGeom>
          <a:noFill/>
          <a:ln/>
        </p:spPr>
        <p:txBody>
          <a:bodyPr wrap="square" lIns="0" tIns="0" rIns="0" bIns="0" rtlCol="0" anchor="ctr"/>
          <a:lstStyle/>
          <a:p>
            <a:pPr marL="0" indent="0" algn="ctr">
              <a:buNone/>
            </a:pPr>
            <a:r>
              <a:rPr lang="en-US" sz="1800" b="1" dirty="0">
                <a:solidFill>
                  <a:srgbClr val="22D3EE"/>
                </a:solidFill>
                <a:latin typeface="Calibri" pitchFamily="34" charset="0"/>
                <a:ea typeface="Calibri" pitchFamily="34" charset="-122"/>
                <a:cs typeface="Calibri" pitchFamily="34" charset="-120"/>
              </a:rPr>
              <a:t>&gt;</a:t>
            </a:r>
            <a:endParaRPr lang="en-US" sz="1800" dirty="0"/>
          </a:p>
        </p:txBody>
      </p:sp>
      <p:sp>
        <p:nvSpPr>
          <p:cNvPr id="13" name="Shape 11"/>
          <p:cNvSpPr/>
          <p:nvPr/>
        </p:nvSpPr>
        <p:spPr>
          <a:xfrm>
            <a:off x="3886200" y="1645920"/>
            <a:ext cx="1371600" cy="822960"/>
          </a:xfrm>
          <a:prstGeom prst="roundRect">
            <a:avLst>
              <a:gd name="adj" fmla="val 11111"/>
            </a:avLst>
          </a:prstGeom>
          <a:solidFill>
            <a:srgbClr val="152238"/>
          </a:solidFill>
          <a:ln w="15875">
            <a:solidFill>
              <a:srgbClr val="8B5CF6"/>
            </a:solidFill>
            <a:prstDash val="solid"/>
          </a:ln>
        </p:spPr>
      </p:sp>
      <p:sp>
        <p:nvSpPr>
          <p:cNvPr id="14" name="Text 12"/>
          <p:cNvSpPr txBox="1"/>
          <p:nvPr/>
        </p:nvSpPr>
        <p:spPr>
          <a:xfrm>
            <a:off x="3886200" y="1645920"/>
            <a:ext cx="1371600" cy="822960"/>
          </a:xfrm>
          <a:prstGeom prst="rect">
            <a:avLst/>
          </a:prstGeom>
          <a:noFill/>
          <a:ln/>
        </p:spPr>
        <p:txBody>
          <a:bodyPr wrap="square" lIns="0" tIns="0" rIns="0" bIns="0" rtlCol="0" anchor="ctr"/>
          <a:lstStyle/>
          <a:p>
            <a:pPr marL="0" indent="0" algn="ctr">
              <a:buNone/>
            </a:pPr>
            <a:r>
              <a:rPr lang="en-US" sz="1500" b="1" dirty="0">
                <a:solidFill>
                  <a:srgbClr val="E8EEFB"/>
                </a:solidFill>
                <a:latin typeface="Calibri" pitchFamily="34" charset="0"/>
                <a:ea typeface="Calibri" pitchFamily="34" charset="-122"/>
                <a:cs typeface="Calibri" pitchFamily="34" charset="-120"/>
              </a:rPr>
              <a:t>App.jsx</a:t>
            </a:r>
            <a:endParaRPr lang="en-US" sz="1500" dirty="0"/>
          </a:p>
        </p:txBody>
      </p:sp>
      <p:sp>
        <p:nvSpPr>
          <p:cNvPr id="15" name="Text 13"/>
          <p:cNvSpPr txBox="1"/>
          <p:nvPr/>
        </p:nvSpPr>
        <p:spPr>
          <a:xfrm>
            <a:off x="5257800" y="1645920"/>
            <a:ext cx="342900" cy="822960"/>
          </a:xfrm>
          <a:prstGeom prst="rect">
            <a:avLst/>
          </a:prstGeom>
          <a:noFill/>
          <a:ln/>
        </p:spPr>
        <p:txBody>
          <a:bodyPr wrap="square" lIns="0" tIns="0" rIns="0" bIns="0" rtlCol="0" anchor="ctr"/>
          <a:lstStyle/>
          <a:p>
            <a:pPr marL="0" indent="0" algn="ctr">
              <a:buNone/>
            </a:pPr>
            <a:r>
              <a:rPr lang="en-US" sz="1800" b="1" dirty="0">
                <a:solidFill>
                  <a:srgbClr val="22D3EE"/>
                </a:solidFill>
                <a:latin typeface="Calibri" pitchFamily="34" charset="0"/>
                <a:ea typeface="Calibri" pitchFamily="34" charset="-122"/>
                <a:cs typeface="Calibri" pitchFamily="34" charset="-120"/>
              </a:rPr>
              <a:t>&gt;</a:t>
            </a:r>
            <a:endParaRPr lang="en-US" sz="1800" dirty="0"/>
          </a:p>
        </p:txBody>
      </p:sp>
      <p:sp>
        <p:nvSpPr>
          <p:cNvPr id="16" name="Shape 14"/>
          <p:cNvSpPr/>
          <p:nvPr/>
        </p:nvSpPr>
        <p:spPr>
          <a:xfrm>
            <a:off x="5600700" y="1645920"/>
            <a:ext cx="1371600" cy="822960"/>
          </a:xfrm>
          <a:prstGeom prst="roundRect">
            <a:avLst>
              <a:gd name="adj" fmla="val 11111"/>
            </a:avLst>
          </a:prstGeom>
          <a:solidFill>
            <a:srgbClr val="152238"/>
          </a:solidFill>
          <a:ln w="15875">
            <a:solidFill>
              <a:srgbClr val="8B5CF6"/>
            </a:solidFill>
            <a:prstDash val="solid"/>
          </a:ln>
        </p:spPr>
      </p:sp>
      <p:sp>
        <p:nvSpPr>
          <p:cNvPr id="17" name="Text 15"/>
          <p:cNvSpPr txBox="1"/>
          <p:nvPr/>
        </p:nvSpPr>
        <p:spPr>
          <a:xfrm>
            <a:off x="5600700" y="1645920"/>
            <a:ext cx="1371600" cy="822960"/>
          </a:xfrm>
          <a:prstGeom prst="rect">
            <a:avLst/>
          </a:prstGeom>
          <a:noFill/>
          <a:ln/>
        </p:spPr>
        <p:txBody>
          <a:bodyPr wrap="square" lIns="0" tIns="0" rIns="0" bIns="0" rtlCol="0" anchor="ctr"/>
          <a:lstStyle/>
          <a:p>
            <a:pPr marL="0" indent="0" algn="ctr">
              <a:buNone/>
            </a:pPr>
            <a:r>
              <a:rPr lang="en-US" sz="1500" b="1" dirty="0">
                <a:solidFill>
                  <a:srgbClr val="E8EEFB"/>
                </a:solidFill>
                <a:latin typeface="Calibri" pitchFamily="34" charset="0"/>
                <a:ea typeface="Calibri" pitchFamily="34" charset="-122"/>
                <a:cs typeface="Calibri" pitchFamily="34" charset="-120"/>
              </a:rPr>
              <a:t>Router</a:t>
            </a:r>
            <a:endParaRPr lang="en-US" sz="1500" dirty="0"/>
          </a:p>
        </p:txBody>
      </p:sp>
      <p:sp>
        <p:nvSpPr>
          <p:cNvPr id="18" name="Text 16"/>
          <p:cNvSpPr txBox="1"/>
          <p:nvPr/>
        </p:nvSpPr>
        <p:spPr>
          <a:xfrm>
            <a:off x="6972300" y="1645920"/>
            <a:ext cx="342900" cy="822960"/>
          </a:xfrm>
          <a:prstGeom prst="rect">
            <a:avLst/>
          </a:prstGeom>
          <a:noFill/>
          <a:ln/>
        </p:spPr>
        <p:txBody>
          <a:bodyPr wrap="square" lIns="0" tIns="0" rIns="0" bIns="0" rtlCol="0" anchor="ctr"/>
          <a:lstStyle/>
          <a:p>
            <a:pPr marL="0" indent="0" algn="ctr">
              <a:buNone/>
            </a:pPr>
            <a:r>
              <a:rPr lang="en-US" sz="1800" b="1" dirty="0">
                <a:solidFill>
                  <a:srgbClr val="22D3EE"/>
                </a:solidFill>
                <a:latin typeface="Calibri" pitchFamily="34" charset="0"/>
                <a:ea typeface="Calibri" pitchFamily="34" charset="-122"/>
                <a:cs typeface="Calibri" pitchFamily="34" charset="-120"/>
              </a:rPr>
              <a:t>&gt;</a:t>
            </a:r>
            <a:endParaRPr lang="en-US" sz="1800" dirty="0"/>
          </a:p>
        </p:txBody>
      </p:sp>
      <p:sp>
        <p:nvSpPr>
          <p:cNvPr id="19" name="Shape 17"/>
          <p:cNvSpPr/>
          <p:nvPr/>
        </p:nvSpPr>
        <p:spPr>
          <a:xfrm>
            <a:off x="7315200" y="1645920"/>
            <a:ext cx="1371600" cy="822960"/>
          </a:xfrm>
          <a:prstGeom prst="roundRect">
            <a:avLst>
              <a:gd name="adj" fmla="val 11111"/>
            </a:avLst>
          </a:prstGeom>
          <a:solidFill>
            <a:srgbClr val="152238"/>
          </a:solidFill>
          <a:ln w="15875">
            <a:solidFill>
              <a:srgbClr val="8B5CF6"/>
            </a:solidFill>
            <a:prstDash val="solid"/>
          </a:ln>
        </p:spPr>
      </p:sp>
      <p:sp>
        <p:nvSpPr>
          <p:cNvPr id="20" name="Text 18"/>
          <p:cNvSpPr txBox="1"/>
          <p:nvPr/>
        </p:nvSpPr>
        <p:spPr>
          <a:xfrm>
            <a:off x="7315200" y="1645920"/>
            <a:ext cx="1371600" cy="822960"/>
          </a:xfrm>
          <a:prstGeom prst="rect">
            <a:avLst/>
          </a:prstGeom>
          <a:noFill/>
          <a:ln/>
        </p:spPr>
        <p:txBody>
          <a:bodyPr wrap="square" lIns="0" tIns="0" rIns="0" bIns="0" rtlCol="0" anchor="ctr"/>
          <a:lstStyle/>
          <a:p>
            <a:pPr marL="0" indent="0" algn="ctr">
              <a:buNone/>
            </a:pPr>
            <a:r>
              <a:rPr lang="en-US" sz="1500" b="1" dirty="0">
                <a:solidFill>
                  <a:srgbClr val="E8EEFB"/>
                </a:solidFill>
                <a:latin typeface="Calibri" pitchFamily="34" charset="0"/>
                <a:ea typeface="Calibri" pitchFamily="34" charset="-122"/>
                <a:cs typeface="Calibri" pitchFamily="34" charset="-120"/>
              </a:rPr>
              <a:t>Pages</a:t>
            </a:r>
            <a:endParaRPr lang="en-US" sz="1500" dirty="0"/>
          </a:p>
        </p:txBody>
      </p:sp>
      <p:sp>
        <p:nvSpPr>
          <p:cNvPr id="21" name="Text 19"/>
          <p:cNvSpPr txBox="1"/>
          <p:nvPr/>
        </p:nvSpPr>
        <p:spPr>
          <a:xfrm>
            <a:off x="457200" y="2834640"/>
            <a:ext cx="8229600" cy="1097280"/>
          </a:xfrm>
          <a:prstGeom prst="rect">
            <a:avLst/>
          </a:prstGeom>
          <a:noFill/>
          <a:ln/>
        </p:spPr>
        <p:txBody>
          <a:bodyPr wrap="square" lIns="0" tIns="0" rIns="0" bIns="0" rtlCol="0" anchor="t"/>
          <a:lstStyle/>
          <a:p>
            <a:pPr marL="0" indent="0">
              <a:buNone/>
            </a:pPr>
            <a:r>
              <a:rPr lang="en-US" sz="1500" dirty="0">
                <a:solidFill>
                  <a:srgbClr val="E8EEFB"/>
                </a:solidFill>
                <a:latin typeface="Calibri" pitchFamily="34" charset="0"/>
                <a:ea typeface="Calibri" pitchFamily="34" charset="-122"/>
                <a:cs typeface="Calibri" pitchFamily="34" charset="-120"/>
              </a:rPr>
              <a:t>The browser loads index.html, which mounts the React tree into #root through main.jsx. App.jsx sets up routes, and each route renders a page component that reads the local movie data.</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4572000" y="0"/>
            <a:ext cx="4572000" cy="73152"/>
          </a:xfrm>
          <a:prstGeom prst="rect">
            <a:avLst/>
          </a:prstGeom>
          <a:solidFill>
            <a:srgbClr val="8B5CF6"/>
          </a:solidFill>
          <a:ln w="12700">
            <a:solidFill>
              <a:srgbClr val="8B5CF6"/>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8EEFB"/>
                </a:solidFill>
                <a:latin typeface="Calibri" pitchFamily="34" charset="0"/>
                <a:ea typeface="Calibri" pitchFamily="34" charset="-122"/>
                <a:cs typeface="Calibri" pitchFamily="34" charset="-120"/>
              </a:rPr>
              <a:t>Project Workflow: Start to End</a:t>
            </a:r>
            <a:endParaRPr lang="en-US" sz="2800" dirty="0"/>
          </a:p>
        </p:txBody>
      </p:sp>
      <p:sp>
        <p:nvSpPr>
          <p:cNvPr id="5" name="Text 3"/>
          <p:cNvSpPr txBox="1"/>
          <p:nvPr/>
        </p:nvSpPr>
        <p:spPr>
          <a:xfrm>
            <a:off x="457200" y="4617720"/>
            <a:ext cx="7315200" cy="274320"/>
          </a:xfrm>
          <a:prstGeom prst="rect">
            <a:avLst/>
          </a:prstGeom>
          <a:noFill/>
          <a:ln/>
        </p:spPr>
        <p:txBody>
          <a:bodyPr wrap="square" lIns="0" tIns="0" rIns="0" bIns="0" rtlCol="0" anchor="ctr"/>
          <a:lstStyle/>
          <a:p>
            <a:pPr marL="0" indent="0">
              <a:buNone/>
            </a:pPr>
            <a:r>
              <a:rPr lang="en-US" sz="1000" i="1" dirty="0">
                <a:solidFill>
                  <a:srgbClr val="93A4C3"/>
                </a:solidFill>
                <a:latin typeface="Calibri" pitchFamily="34" charset="0"/>
                <a:ea typeface="Calibri" pitchFamily="34" charset="-122"/>
                <a:cs typeface="Calibri" pitchFamily="34" charset="-120"/>
              </a:rPr>
              <a:t>Inferred from README and dependencies - to be confirmed against src/ code.</a:t>
            </a:r>
            <a:endParaRPr lang="en-US" sz="1000" dirty="0"/>
          </a:p>
        </p:txBody>
      </p:sp>
      <p:sp>
        <p:nvSpPr>
          <p:cNvPr id="6" name="Text 4"/>
          <p:cNvSpPr txBox="1"/>
          <p:nvPr/>
        </p:nvSpPr>
        <p:spPr>
          <a:xfrm>
            <a:off x="8229600" y="4663440"/>
            <a:ext cx="457200" cy="274320"/>
          </a:xfrm>
          <a:prstGeom prst="rect">
            <a:avLst/>
          </a:prstGeom>
          <a:noFill/>
          <a:ln/>
        </p:spPr>
        <p:txBody>
          <a:bodyPr wrap="square" lIns="0" tIns="0" rIns="0" bIns="0" rtlCol="0" anchor="ctr"/>
          <a:lstStyle/>
          <a:p>
            <a:pPr marL="0" indent="0" algn="r">
              <a:buNone/>
            </a:pPr>
            <a:r>
              <a:rPr lang="en-US" sz="1000" dirty="0">
                <a:solidFill>
                  <a:srgbClr val="93A4C3"/>
                </a:solidFill>
                <a:latin typeface="Calibri" pitchFamily="34" charset="0"/>
                <a:ea typeface="Calibri" pitchFamily="34" charset="-122"/>
                <a:cs typeface="Calibri" pitchFamily="34" charset="-120"/>
              </a:rPr>
              <a:t>8</a:t>
            </a:r>
            <a:endParaRPr lang="en-US" sz="1000" dirty="0"/>
          </a:p>
        </p:txBody>
      </p:sp>
      <p:sp>
        <p:nvSpPr>
          <p:cNvPr id="7" name="Shape 5"/>
          <p:cNvSpPr/>
          <p:nvPr/>
        </p:nvSpPr>
        <p:spPr>
          <a:xfrm>
            <a:off x="457200" y="1554480"/>
            <a:ext cx="960120" cy="731520"/>
          </a:xfrm>
          <a:prstGeom prst="roundRect">
            <a:avLst>
              <a:gd name="adj" fmla="val 12500"/>
            </a:avLst>
          </a:prstGeom>
          <a:solidFill>
            <a:srgbClr val="22D3EE"/>
          </a:solidFill>
          <a:ln w="15875">
            <a:solidFill>
              <a:srgbClr val="22D3EE"/>
            </a:solidFill>
            <a:prstDash val="solid"/>
          </a:ln>
        </p:spPr>
      </p:sp>
      <p:sp>
        <p:nvSpPr>
          <p:cNvPr id="8" name="Text 6"/>
          <p:cNvSpPr txBox="1"/>
          <p:nvPr/>
        </p:nvSpPr>
        <p:spPr>
          <a:xfrm>
            <a:off x="457200" y="1554480"/>
            <a:ext cx="960120" cy="731520"/>
          </a:xfrm>
          <a:prstGeom prst="rect">
            <a:avLst/>
          </a:prstGeom>
          <a:noFill/>
          <a:ln/>
        </p:spPr>
        <p:txBody>
          <a:bodyPr wrap="square" lIns="0" tIns="0" rIns="0" bIns="0" rtlCol="0" anchor="ctr"/>
          <a:lstStyle/>
          <a:p>
            <a:pPr marL="0" indent="0" algn="ctr">
              <a:buNone/>
            </a:pPr>
            <a:r>
              <a:rPr lang="en-US" sz="1200" b="1" dirty="0">
                <a:solidFill>
                  <a:srgbClr val="06121F"/>
                </a:solidFill>
                <a:latin typeface="Calibri" pitchFamily="34" charset="0"/>
                <a:ea typeface="Calibri" pitchFamily="34" charset="-122"/>
                <a:cs typeface="Calibri" pitchFamily="34" charset="-120"/>
              </a:rPr>
              <a:t>JSON Data</a:t>
            </a:r>
            <a:endParaRPr lang="en-US" sz="1200" dirty="0"/>
          </a:p>
        </p:txBody>
      </p:sp>
      <p:sp>
        <p:nvSpPr>
          <p:cNvPr id="9" name="Text 7"/>
          <p:cNvSpPr txBox="1"/>
          <p:nvPr/>
        </p:nvSpPr>
        <p:spPr>
          <a:xfrm>
            <a:off x="1417320" y="1554480"/>
            <a:ext cx="251460" cy="731520"/>
          </a:xfrm>
          <a:prstGeom prst="rect">
            <a:avLst/>
          </a:prstGeom>
          <a:noFill/>
          <a:ln/>
        </p:spPr>
        <p:txBody>
          <a:bodyPr wrap="square" lIns="0" tIns="0" rIns="0" bIns="0" rtlCol="0" anchor="ctr"/>
          <a:lstStyle/>
          <a:p>
            <a:pPr marL="0" indent="0" algn="ctr">
              <a:buNone/>
            </a:pPr>
            <a:r>
              <a:rPr lang="en-US" sz="1800" b="1" dirty="0">
                <a:solidFill>
                  <a:srgbClr val="22D3EE"/>
                </a:solidFill>
                <a:latin typeface="Calibri" pitchFamily="34" charset="0"/>
                <a:ea typeface="Calibri" pitchFamily="34" charset="-122"/>
                <a:cs typeface="Calibri" pitchFamily="34" charset="-120"/>
              </a:rPr>
              <a:t>&gt;</a:t>
            </a:r>
            <a:endParaRPr lang="en-US" sz="1800" dirty="0"/>
          </a:p>
        </p:txBody>
      </p:sp>
      <p:sp>
        <p:nvSpPr>
          <p:cNvPr id="10" name="Shape 8"/>
          <p:cNvSpPr/>
          <p:nvPr/>
        </p:nvSpPr>
        <p:spPr>
          <a:xfrm>
            <a:off x="1668780" y="1554480"/>
            <a:ext cx="960120" cy="731520"/>
          </a:xfrm>
          <a:prstGeom prst="roundRect">
            <a:avLst>
              <a:gd name="adj" fmla="val 12500"/>
            </a:avLst>
          </a:prstGeom>
          <a:solidFill>
            <a:srgbClr val="152238"/>
          </a:solidFill>
          <a:ln w="15875">
            <a:solidFill>
              <a:srgbClr val="8B5CF6"/>
            </a:solidFill>
            <a:prstDash val="solid"/>
          </a:ln>
        </p:spPr>
      </p:sp>
      <p:sp>
        <p:nvSpPr>
          <p:cNvPr id="11" name="Text 9"/>
          <p:cNvSpPr txBox="1"/>
          <p:nvPr/>
        </p:nvSpPr>
        <p:spPr>
          <a:xfrm>
            <a:off x="1668780" y="1554480"/>
            <a:ext cx="960120" cy="731520"/>
          </a:xfrm>
          <a:prstGeom prst="rect">
            <a:avLst/>
          </a:prstGeom>
          <a:noFill/>
          <a:ln/>
        </p:spPr>
        <p:txBody>
          <a:bodyPr wrap="square" lIns="0" tIns="0" rIns="0" bIns="0" rtlCol="0" anchor="ctr"/>
          <a:lstStyle/>
          <a:p>
            <a:pPr marL="0" indent="0" algn="ctr">
              <a:buNone/>
            </a:pPr>
            <a:r>
              <a:rPr lang="en-US" sz="1200" b="1" dirty="0">
                <a:solidFill>
                  <a:srgbClr val="E8EEFB"/>
                </a:solidFill>
                <a:latin typeface="Calibri" pitchFamily="34" charset="0"/>
                <a:ea typeface="Calibri" pitchFamily="34" charset="-122"/>
                <a:cs typeface="Calibri" pitchFamily="34" charset="-120"/>
              </a:rPr>
              <a:t>Home</a:t>
            </a:r>
            <a:endParaRPr lang="en-US" sz="1200" dirty="0"/>
          </a:p>
        </p:txBody>
      </p:sp>
      <p:sp>
        <p:nvSpPr>
          <p:cNvPr id="12" name="Text 10"/>
          <p:cNvSpPr txBox="1"/>
          <p:nvPr/>
        </p:nvSpPr>
        <p:spPr>
          <a:xfrm>
            <a:off x="2628900" y="1554480"/>
            <a:ext cx="251460" cy="731520"/>
          </a:xfrm>
          <a:prstGeom prst="rect">
            <a:avLst/>
          </a:prstGeom>
          <a:noFill/>
          <a:ln/>
        </p:spPr>
        <p:txBody>
          <a:bodyPr wrap="square" lIns="0" tIns="0" rIns="0" bIns="0" rtlCol="0" anchor="ctr"/>
          <a:lstStyle/>
          <a:p>
            <a:pPr marL="0" indent="0" algn="ctr">
              <a:buNone/>
            </a:pPr>
            <a:r>
              <a:rPr lang="en-US" sz="1800" b="1" dirty="0">
                <a:solidFill>
                  <a:srgbClr val="22D3EE"/>
                </a:solidFill>
                <a:latin typeface="Calibri" pitchFamily="34" charset="0"/>
                <a:ea typeface="Calibri" pitchFamily="34" charset="-122"/>
                <a:cs typeface="Calibri" pitchFamily="34" charset="-120"/>
              </a:rPr>
              <a:t>&gt;</a:t>
            </a:r>
            <a:endParaRPr lang="en-US" sz="1800" dirty="0"/>
          </a:p>
        </p:txBody>
      </p:sp>
      <p:sp>
        <p:nvSpPr>
          <p:cNvPr id="13" name="Shape 11"/>
          <p:cNvSpPr/>
          <p:nvPr/>
        </p:nvSpPr>
        <p:spPr>
          <a:xfrm>
            <a:off x="2880360" y="1554480"/>
            <a:ext cx="960120" cy="731520"/>
          </a:xfrm>
          <a:prstGeom prst="roundRect">
            <a:avLst>
              <a:gd name="adj" fmla="val 12500"/>
            </a:avLst>
          </a:prstGeom>
          <a:solidFill>
            <a:srgbClr val="152238"/>
          </a:solidFill>
          <a:ln w="15875">
            <a:solidFill>
              <a:srgbClr val="8B5CF6"/>
            </a:solidFill>
            <a:prstDash val="solid"/>
          </a:ln>
        </p:spPr>
      </p:sp>
      <p:sp>
        <p:nvSpPr>
          <p:cNvPr id="14" name="Text 12"/>
          <p:cNvSpPr txBox="1"/>
          <p:nvPr/>
        </p:nvSpPr>
        <p:spPr>
          <a:xfrm>
            <a:off x="2880360" y="1554480"/>
            <a:ext cx="960120" cy="731520"/>
          </a:xfrm>
          <a:prstGeom prst="rect">
            <a:avLst/>
          </a:prstGeom>
          <a:noFill/>
          <a:ln/>
        </p:spPr>
        <p:txBody>
          <a:bodyPr wrap="square" lIns="0" tIns="0" rIns="0" bIns="0" rtlCol="0" anchor="ctr"/>
          <a:lstStyle/>
          <a:p>
            <a:pPr marL="0" indent="0" algn="ctr">
              <a:buNone/>
            </a:pPr>
            <a:r>
              <a:rPr lang="en-US" sz="1200" b="1" dirty="0">
                <a:solidFill>
                  <a:srgbClr val="E8EEFB"/>
                </a:solidFill>
                <a:latin typeface="Calibri" pitchFamily="34" charset="0"/>
                <a:ea typeface="Calibri" pitchFamily="34" charset="-122"/>
                <a:cs typeface="Calibri" pitchFamily="34" charset="-120"/>
              </a:rPr>
              <a:t>Search</a:t>
            </a:r>
            <a:endParaRPr lang="en-US" sz="1200" dirty="0"/>
          </a:p>
        </p:txBody>
      </p:sp>
      <p:sp>
        <p:nvSpPr>
          <p:cNvPr id="15" name="Text 13"/>
          <p:cNvSpPr txBox="1"/>
          <p:nvPr/>
        </p:nvSpPr>
        <p:spPr>
          <a:xfrm>
            <a:off x="3840480" y="1554480"/>
            <a:ext cx="251460" cy="731520"/>
          </a:xfrm>
          <a:prstGeom prst="rect">
            <a:avLst/>
          </a:prstGeom>
          <a:noFill/>
          <a:ln/>
        </p:spPr>
        <p:txBody>
          <a:bodyPr wrap="square" lIns="0" tIns="0" rIns="0" bIns="0" rtlCol="0" anchor="ctr"/>
          <a:lstStyle/>
          <a:p>
            <a:pPr marL="0" indent="0" algn="ctr">
              <a:buNone/>
            </a:pPr>
            <a:r>
              <a:rPr lang="en-US" sz="1800" b="1" dirty="0">
                <a:solidFill>
                  <a:srgbClr val="22D3EE"/>
                </a:solidFill>
                <a:latin typeface="Calibri" pitchFamily="34" charset="0"/>
                <a:ea typeface="Calibri" pitchFamily="34" charset="-122"/>
                <a:cs typeface="Calibri" pitchFamily="34" charset="-120"/>
              </a:rPr>
              <a:t>&gt;</a:t>
            </a:r>
            <a:endParaRPr lang="en-US" sz="1800" dirty="0"/>
          </a:p>
        </p:txBody>
      </p:sp>
      <p:sp>
        <p:nvSpPr>
          <p:cNvPr id="16" name="Shape 14"/>
          <p:cNvSpPr/>
          <p:nvPr/>
        </p:nvSpPr>
        <p:spPr>
          <a:xfrm>
            <a:off x="4091940" y="1554480"/>
            <a:ext cx="960120" cy="731520"/>
          </a:xfrm>
          <a:prstGeom prst="roundRect">
            <a:avLst>
              <a:gd name="adj" fmla="val 12500"/>
            </a:avLst>
          </a:prstGeom>
          <a:solidFill>
            <a:srgbClr val="152238"/>
          </a:solidFill>
          <a:ln w="15875">
            <a:solidFill>
              <a:srgbClr val="8B5CF6"/>
            </a:solidFill>
            <a:prstDash val="solid"/>
          </a:ln>
        </p:spPr>
      </p:sp>
      <p:sp>
        <p:nvSpPr>
          <p:cNvPr id="17" name="Text 15"/>
          <p:cNvSpPr txBox="1"/>
          <p:nvPr/>
        </p:nvSpPr>
        <p:spPr>
          <a:xfrm>
            <a:off x="4091940" y="1554480"/>
            <a:ext cx="960120" cy="731520"/>
          </a:xfrm>
          <a:prstGeom prst="rect">
            <a:avLst/>
          </a:prstGeom>
          <a:noFill/>
          <a:ln/>
        </p:spPr>
        <p:txBody>
          <a:bodyPr wrap="square" lIns="0" tIns="0" rIns="0" bIns="0" rtlCol="0" anchor="ctr"/>
          <a:lstStyle/>
          <a:p>
            <a:pPr marL="0" indent="0" algn="ctr">
              <a:buNone/>
            </a:pPr>
            <a:r>
              <a:rPr lang="en-US" sz="1200" b="1" dirty="0">
                <a:solidFill>
                  <a:srgbClr val="E8EEFB"/>
                </a:solidFill>
                <a:latin typeface="Calibri" pitchFamily="34" charset="0"/>
                <a:ea typeface="Calibri" pitchFamily="34" charset="-122"/>
                <a:cs typeface="Calibri" pitchFamily="34" charset="-120"/>
              </a:rPr>
              <a:t>Details</a:t>
            </a:r>
            <a:endParaRPr lang="en-US" sz="1200" dirty="0"/>
          </a:p>
        </p:txBody>
      </p:sp>
      <p:sp>
        <p:nvSpPr>
          <p:cNvPr id="18" name="Text 16"/>
          <p:cNvSpPr txBox="1"/>
          <p:nvPr/>
        </p:nvSpPr>
        <p:spPr>
          <a:xfrm>
            <a:off x="5052060" y="1554480"/>
            <a:ext cx="251460" cy="731520"/>
          </a:xfrm>
          <a:prstGeom prst="rect">
            <a:avLst/>
          </a:prstGeom>
          <a:noFill/>
          <a:ln/>
        </p:spPr>
        <p:txBody>
          <a:bodyPr wrap="square" lIns="0" tIns="0" rIns="0" bIns="0" rtlCol="0" anchor="ctr"/>
          <a:lstStyle/>
          <a:p>
            <a:pPr marL="0" indent="0" algn="ctr">
              <a:buNone/>
            </a:pPr>
            <a:r>
              <a:rPr lang="en-US" sz="1800" b="1" dirty="0">
                <a:solidFill>
                  <a:srgbClr val="22D3EE"/>
                </a:solidFill>
                <a:latin typeface="Calibri" pitchFamily="34" charset="0"/>
                <a:ea typeface="Calibri" pitchFamily="34" charset="-122"/>
                <a:cs typeface="Calibri" pitchFamily="34" charset="-120"/>
              </a:rPr>
              <a:t>&gt;</a:t>
            </a:r>
            <a:endParaRPr lang="en-US" sz="1800" dirty="0"/>
          </a:p>
        </p:txBody>
      </p:sp>
      <p:sp>
        <p:nvSpPr>
          <p:cNvPr id="19" name="Shape 17"/>
          <p:cNvSpPr/>
          <p:nvPr/>
        </p:nvSpPr>
        <p:spPr>
          <a:xfrm>
            <a:off x="5303520" y="1554480"/>
            <a:ext cx="960120" cy="731520"/>
          </a:xfrm>
          <a:prstGeom prst="roundRect">
            <a:avLst>
              <a:gd name="adj" fmla="val 12500"/>
            </a:avLst>
          </a:prstGeom>
          <a:solidFill>
            <a:srgbClr val="152238"/>
          </a:solidFill>
          <a:ln w="15875">
            <a:solidFill>
              <a:srgbClr val="8B5CF6"/>
            </a:solidFill>
            <a:prstDash val="solid"/>
          </a:ln>
        </p:spPr>
      </p:sp>
      <p:sp>
        <p:nvSpPr>
          <p:cNvPr id="20" name="Text 18"/>
          <p:cNvSpPr txBox="1"/>
          <p:nvPr/>
        </p:nvSpPr>
        <p:spPr>
          <a:xfrm>
            <a:off x="5303520" y="1554480"/>
            <a:ext cx="960120" cy="731520"/>
          </a:xfrm>
          <a:prstGeom prst="rect">
            <a:avLst/>
          </a:prstGeom>
          <a:noFill/>
          <a:ln/>
        </p:spPr>
        <p:txBody>
          <a:bodyPr wrap="square" lIns="0" tIns="0" rIns="0" bIns="0" rtlCol="0" anchor="ctr"/>
          <a:lstStyle/>
          <a:p>
            <a:pPr marL="0" indent="0" algn="ctr">
              <a:buNone/>
            </a:pPr>
            <a:r>
              <a:rPr lang="en-US" sz="1200" b="1" dirty="0">
                <a:solidFill>
                  <a:srgbClr val="E8EEFB"/>
                </a:solidFill>
                <a:latin typeface="Calibri" pitchFamily="34" charset="0"/>
                <a:ea typeface="Calibri" pitchFamily="34" charset="-122"/>
                <a:cs typeface="Calibri" pitchFamily="34" charset="-120"/>
              </a:rPr>
              <a:t>Seats</a:t>
            </a:r>
            <a:endParaRPr lang="en-US" sz="1200" dirty="0"/>
          </a:p>
        </p:txBody>
      </p:sp>
      <p:sp>
        <p:nvSpPr>
          <p:cNvPr id="21" name="Text 19"/>
          <p:cNvSpPr txBox="1"/>
          <p:nvPr/>
        </p:nvSpPr>
        <p:spPr>
          <a:xfrm>
            <a:off x="6263640" y="1554480"/>
            <a:ext cx="251460" cy="731520"/>
          </a:xfrm>
          <a:prstGeom prst="rect">
            <a:avLst/>
          </a:prstGeom>
          <a:noFill/>
          <a:ln/>
        </p:spPr>
        <p:txBody>
          <a:bodyPr wrap="square" lIns="0" tIns="0" rIns="0" bIns="0" rtlCol="0" anchor="ctr"/>
          <a:lstStyle/>
          <a:p>
            <a:pPr marL="0" indent="0" algn="ctr">
              <a:buNone/>
            </a:pPr>
            <a:r>
              <a:rPr lang="en-US" sz="1800" b="1" dirty="0">
                <a:solidFill>
                  <a:srgbClr val="22D3EE"/>
                </a:solidFill>
                <a:latin typeface="Calibri" pitchFamily="34" charset="0"/>
                <a:ea typeface="Calibri" pitchFamily="34" charset="-122"/>
                <a:cs typeface="Calibri" pitchFamily="34" charset="-120"/>
              </a:rPr>
              <a:t>&gt;</a:t>
            </a:r>
            <a:endParaRPr lang="en-US" sz="1800" dirty="0"/>
          </a:p>
        </p:txBody>
      </p:sp>
      <p:sp>
        <p:nvSpPr>
          <p:cNvPr id="22" name="Shape 20"/>
          <p:cNvSpPr/>
          <p:nvPr/>
        </p:nvSpPr>
        <p:spPr>
          <a:xfrm>
            <a:off x="6515100" y="1554480"/>
            <a:ext cx="960120" cy="731520"/>
          </a:xfrm>
          <a:prstGeom prst="roundRect">
            <a:avLst>
              <a:gd name="adj" fmla="val 12500"/>
            </a:avLst>
          </a:prstGeom>
          <a:solidFill>
            <a:srgbClr val="152238"/>
          </a:solidFill>
          <a:ln w="15875">
            <a:solidFill>
              <a:srgbClr val="8B5CF6"/>
            </a:solidFill>
            <a:prstDash val="solid"/>
          </a:ln>
        </p:spPr>
      </p:sp>
      <p:sp>
        <p:nvSpPr>
          <p:cNvPr id="23" name="Text 21"/>
          <p:cNvSpPr txBox="1"/>
          <p:nvPr/>
        </p:nvSpPr>
        <p:spPr>
          <a:xfrm>
            <a:off x="6515100" y="1554480"/>
            <a:ext cx="960120" cy="731520"/>
          </a:xfrm>
          <a:prstGeom prst="rect">
            <a:avLst/>
          </a:prstGeom>
          <a:noFill/>
          <a:ln/>
        </p:spPr>
        <p:txBody>
          <a:bodyPr wrap="square" lIns="0" tIns="0" rIns="0" bIns="0" rtlCol="0" anchor="ctr"/>
          <a:lstStyle/>
          <a:p>
            <a:pPr marL="0" indent="0" algn="ctr">
              <a:buNone/>
            </a:pPr>
            <a:r>
              <a:rPr lang="en-US" sz="1200" b="1" dirty="0">
                <a:solidFill>
                  <a:srgbClr val="E8EEFB"/>
                </a:solidFill>
                <a:latin typeface="Calibri" pitchFamily="34" charset="0"/>
                <a:ea typeface="Calibri" pitchFamily="34" charset="-122"/>
                <a:cs typeface="Calibri" pitchFamily="34" charset="-120"/>
              </a:rPr>
              <a:t>Payment</a:t>
            </a:r>
            <a:endParaRPr lang="en-US" sz="1200" dirty="0"/>
          </a:p>
        </p:txBody>
      </p:sp>
      <p:sp>
        <p:nvSpPr>
          <p:cNvPr id="24" name="Text 22"/>
          <p:cNvSpPr txBox="1"/>
          <p:nvPr/>
        </p:nvSpPr>
        <p:spPr>
          <a:xfrm>
            <a:off x="7475220" y="1554480"/>
            <a:ext cx="251460" cy="731520"/>
          </a:xfrm>
          <a:prstGeom prst="rect">
            <a:avLst/>
          </a:prstGeom>
          <a:noFill/>
          <a:ln/>
        </p:spPr>
        <p:txBody>
          <a:bodyPr wrap="square" lIns="0" tIns="0" rIns="0" bIns="0" rtlCol="0" anchor="ctr"/>
          <a:lstStyle/>
          <a:p>
            <a:pPr marL="0" indent="0" algn="ctr">
              <a:buNone/>
            </a:pPr>
            <a:r>
              <a:rPr lang="en-US" sz="1800" b="1" dirty="0">
                <a:solidFill>
                  <a:srgbClr val="22D3EE"/>
                </a:solidFill>
                <a:latin typeface="Calibri" pitchFamily="34" charset="0"/>
                <a:ea typeface="Calibri" pitchFamily="34" charset="-122"/>
                <a:cs typeface="Calibri" pitchFamily="34" charset="-120"/>
              </a:rPr>
              <a:t>&gt;</a:t>
            </a:r>
            <a:endParaRPr lang="en-US" sz="1800" dirty="0"/>
          </a:p>
        </p:txBody>
      </p:sp>
      <p:sp>
        <p:nvSpPr>
          <p:cNvPr id="25" name="Shape 23"/>
          <p:cNvSpPr/>
          <p:nvPr/>
        </p:nvSpPr>
        <p:spPr>
          <a:xfrm>
            <a:off x="7726680" y="1554480"/>
            <a:ext cx="960120" cy="731520"/>
          </a:xfrm>
          <a:prstGeom prst="roundRect">
            <a:avLst>
              <a:gd name="adj" fmla="val 12500"/>
            </a:avLst>
          </a:prstGeom>
          <a:solidFill>
            <a:srgbClr val="152238"/>
          </a:solidFill>
          <a:ln w="15875">
            <a:solidFill>
              <a:srgbClr val="8B5CF6"/>
            </a:solidFill>
            <a:prstDash val="solid"/>
          </a:ln>
        </p:spPr>
      </p:sp>
      <p:sp>
        <p:nvSpPr>
          <p:cNvPr id="26" name="Text 24"/>
          <p:cNvSpPr txBox="1"/>
          <p:nvPr/>
        </p:nvSpPr>
        <p:spPr>
          <a:xfrm>
            <a:off x="7726680" y="1554480"/>
            <a:ext cx="960120" cy="731520"/>
          </a:xfrm>
          <a:prstGeom prst="rect">
            <a:avLst/>
          </a:prstGeom>
          <a:noFill/>
          <a:ln/>
        </p:spPr>
        <p:txBody>
          <a:bodyPr wrap="square" lIns="0" tIns="0" rIns="0" bIns="0" rtlCol="0" anchor="ctr"/>
          <a:lstStyle/>
          <a:p>
            <a:pPr marL="0" indent="0" algn="ctr">
              <a:buNone/>
            </a:pPr>
            <a:r>
              <a:rPr lang="en-US" sz="1200" b="1" dirty="0">
                <a:solidFill>
                  <a:srgbClr val="E8EEFB"/>
                </a:solidFill>
                <a:latin typeface="Calibri" pitchFamily="34" charset="0"/>
                <a:ea typeface="Calibri" pitchFamily="34" charset="-122"/>
                <a:cs typeface="Calibri" pitchFamily="34" charset="-120"/>
              </a:rPr>
              <a:t>Ticket</a:t>
            </a:r>
            <a:endParaRPr lang="en-US" sz="1200" dirty="0"/>
          </a:p>
        </p:txBody>
      </p:sp>
      <p:sp>
        <p:nvSpPr>
          <p:cNvPr id="27" name="Text 25"/>
          <p:cNvSpPr txBox="1"/>
          <p:nvPr/>
        </p:nvSpPr>
        <p:spPr>
          <a:xfrm>
            <a:off x="457200" y="2743200"/>
            <a:ext cx="8229600" cy="1097280"/>
          </a:xfrm>
          <a:prstGeom prst="rect">
            <a:avLst/>
          </a:prstGeom>
          <a:noFill/>
          <a:ln/>
        </p:spPr>
        <p:txBody>
          <a:bodyPr wrap="square" lIns="0" tIns="0" rIns="0" bIns="0" rtlCol="0" anchor="t"/>
          <a:lstStyle/>
          <a:p>
            <a:pPr marL="0" indent="0">
              <a:buNone/>
            </a:pPr>
            <a:r>
              <a:rPr lang="en-US" sz="1500" dirty="0">
                <a:solidFill>
                  <a:srgbClr val="E8EEFB"/>
                </a:solidFill>
                <a:latin typeface="Calibri" pitchFamily="34" charset="0"/>
                <a:ea typeface="Calibri" pitchFamily="34" charset="-122"/>
                <a:cs typeface="Calibri" pitchFamily="34" charset="-120"/>
              </a:rPr>
              <a:t>The local JSON file is the single source for every movie step. Booking data then moves into LocalStorage, and My Bookings reads it back. Login placement (before payment or at start) is confirmed from the router in src/.</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4572000" y="0"/>
            <a:ext cx="4572000" cy="73152"/>
          </a:xfrm>
          <a:prstGeom prst="rect">
            <a:avLst/>
          </a:prstGeom>
          <a:solidFill>
            <a:srgbClr val="8B5CF6"/>
          </a:solidFill>
          <a:ln w="12700">
            <a:solidFill>
              <a:srgbClr val="8B5CF6"/>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8EEFB"/>
                </a:solidFill>
                <a:latin typeface="Calibri" pitchFamily="34" charset="0"/>
                <a:ea typeface="Calibri" pitchFamily="34" charset="-122"/>
                <a:cs typeface="Calibri" pitchFamily="34" charset="-120"/>
              </a:rPr>
              <a:t>Step 1: Browse and Search Movies (Local JSON)</a:t>
            </a:r>
            <a:endParaRPr lang="en-US" sz="2800" dirty="0"/>
          </a:p>
        </p:txBody>
      </p:sp>
      <p:sp>
        <p:nvSpPr>
          <p:cNvPr id="5" name="Text 3"/>
          <p:cNvSpPr txBox="1"/>
          <p:nvPr/>
        </p:nvSpPr>
        <p:spPr>
          <a:xfrm>
            <a:off x="457200" y="4617720"/>
            <a:ext cx="7315200" cy="274320"/>
          </a:xfrm>
          <a:prstGeom prst="rect">
            <a:avLst/>
          </a:prstGeom>
          <a:noFill/>
          <a:ln/>
        </p:spPr>
        <p:txBody>
          <a:bodyPr wrap="square" lIns="0" tIns="0" rIns="0" bIns="0" rtlCol="0" anchor="ctr"/>
          <a:lstStyle/>
          <a:p>
            <a:pPr marL="0" indent="0">
              <a:buNone/>
            </a:pPr>
            <a:r>
              <a:rPr lang="en-US" sz="1000" i="1" dirty="0">
                <a:solidFill>
                  <a:srgbClr val="93A4C3"/>
                </a:solidFill>
                <a:latin typeface="Calibri" pitchFamily="34" charset="0"/>
                <a:ea typeface="Calibri" pitchFamily="34" charset="-122"/>
                <a:cs typeface="Calibri" pitchFamily="34" charset="-120"/>
              </a:rPr>
              <a:t>Inferred from README and dependencies - to be confirmed against src/ code.</a:t>
            </a:r>
            <a:endParaRPr lang="en-US" sz="1000" dirty="0"/>
          </a:p>
        </p:txBody>
      </p:sp>
      <p:sp>
        <p:nvSpPr>
          <p:cNvPr id="6" name="Text 4"/>
          <p:cNvSpPr txBox="1"/>
          <p:nvPr/>
        </p:nvSpPr>
        <p:spPr>
          <a:xfrm>
            <a:off x="8229600" y="4663440"/>
            <a:ext cx="457200" cy="274320"/>
          </a:xfrm>
          <a:prstGeom prst="rect">
            <a:avLst/>
          </a:prstGeom>
          <a:noFill/>
          <a:ln/>
        </p:spPr>
        <p:txBody>
          <a:bodyPr wrap="square" lIns="0" tIns="0" rIns="0" bIns="0" rtlCol="0" anchor="ctr"/>
          <a:lstStyle/>
          <a:p>
            <a:pPr marL="0" indent="0" algn="r">
              <a:buNone/>
            </a:pPr>
            <a:r>
              <a:rPr lang="en-US" sz="1000" dirty="0">
                <a:solidFill>
                  <a:srgbClr val="93A4C3"/>
                </a:solidFill>
                <a:latin typeface="Calibri" pitchFamily="34" charset="0"/>
                <a:ea typeface="Calibri" pitchFamily="34" charset="-122"/>
                <a:cs typeface="Calibri" pitchFamily="34" charset="-120"/>
              </a:rPr>
              <a:t>9</a:t>
            </a:r>
            <a:endParaRPr lang="en-US" sz="1000" dirty="0"/>
          </a:p>
        </p:txBody>
      </p:sp>
      <p:sp>
        <p:nvSpPr>
          <p:cNvPr id="7" name="Text 5"/>
          <p:cNvSpPr txBox="1"/>
          <p:nvPr/>
        </p:nvSpPr>
        <p:spPr>
          <a:xfrm>
            <a:off x="457200" y="1097280"/>
            <a:ext cx="822960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Movies are stored in a custom local JSON file: id, title, poster, genre, language, rating, duration, showtimes, price</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The page loads the data directly (import or fetch of the local file), with no API key or network dependency</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On mount, useEffect/useState put the movie list into state; cards are rendered with Bootstrap</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Search and genre filters run on the in-memory array by matching the typed text with the title or genre</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Every later step reuses these movie ids, so this file drives the whole workflow</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4572000" y="0"/>
            <a:ext cx="4572000" cy="73152"/>
          </a:xfrm>
          <a:prstGeom prst="rect">
            <a:avLst/>
          </a:prstGeom>
          <a:solidFill>
            <a:srgbClr val="8B5CF6"/>
          </a:solidFill>
          <a:ln w="12700">
            <a:solidFill>
              <a:srgbClr val="8B5CF6"/>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8EEFB"/>
                </a:solidFill>
                <a:latin typeface="Calibri" pitchFamily="34" charset="0"/>
                <a:ea typeface="Calibri" pitchFamily="34" charset="-122"/>
                <a:cs typeface="Calibri" pitchFamily="34" charset="-120"/>
              </a:rPr>
              <a:t>Step 2: Movie Details and Ratings</a:t>
            </a:r>
            <a:endParaRPr lang="en-US" sz="2800" dirty="0"/>
          </a:p>
        </p:txBody>
      </p:sp>
      <p:sp>
        <p:nvSpPr>
          <p:cNvPr id="5" name="Text 3"/>
          <p:cNvSpPr txBox="1"/>
          <p:nvPr/>
        </p:nvSpPr>
        <p:spPr>
          <a:xfrm>
            <a:off x="457200" y="4617720"/>
            <a:ext cx="7315200" cy="274320"/>
          </a:xfrm>
          <a:prstGeom prst="rect">
            <a:avLst/>
          </a:prstGeom>
          <a:noFill/>
          <a:ln/>
        </p:spPr>
        <p:txBody>
          <a:bodyPr wrap="square" lIns="0" tIns="0" rIns="0" bIns="0" rtlCol="0" anchor="ctr"/>
          <a:lstStyle/>
          <a:p>
            <a:pPr marL="0" indent="0">
              <a:buNone/>
            </a:pPr>
            <a:r>
              <a:rPr lang="en-US" sz="1000" i="1" dirty="0">
                <a:solidFill>
                  <a:srgbClr val="93A4C3"/>
                </a:solidFill>
                <a:latin typeface="Calibri" pitchFamily="34" charset="0"/>
                <a:ea typeface="Calibri" pitchFamily="34" charset="-122"/>
                <a:cs typeface="Calibri" pitchFamily="34" charset="-120"/>
              </a:rPr>
              <a:t>Inferred from README and dependencies - to be confirmed against src/ code.</a:t>
            </a:r>
            <a:endParaRPr lang="en-US" sz="1000" dirty="0"/>
          </a:p>
        </p:txBody>
      </p:sp>
      <p:sp>
        <p:nvSpPr>
          <p:cNvPr id="6" name="Text 4"/>
          <p:cNvSpPr txBox="1"/>
          <p:nvPr/>
        </p:nvSpPr>
        <p:spPr>
          <a:xfrm>
            <a:off x="8229600" y="4663440"/>
            <a:ext cx="457200" cy="274320"/>
          </a:xfrm>
          <a:prstGeom prst="rect">
            <a:avLst/>
          </a:prstGeom>
          <a:noFill/>
          <a:ln/>
        </p:spPr>
        <p:txBody>
          <a:bodyPr wrap="square" lIns="0" tIns="0" rIns="0" bIns="0" rtlCol="0" anchor="ctr"/>
          <a:lstStyle/>
          <a:p>
            <a:pPr marL="0" indent="0" algn="r">
              <a:buNone/>
            </a:pPr>
            <a:r>
              <a:rPr lang="en-US" sz="1000" dirty="0">
                <a:solidFill>
                  <a:srgbClr val="93A4C3"/>
                </a:solidFill>
                <a:latin typeface="Calibri" pitchFamily="34" charset="0"/>
                <a:ea typeface="Calibri" pitchFamily="34" charset="-122"/>
                <a:cs typeface="Calibri" pitchFamily="34" charset="-120"/>
              </a:rPr>
              <a:t>10</a:t>
            </a:r>
            <a:endParaRPr lang="en-US" sz="1000" dirty="0"/>
          </a:p>
        </p:txBody>
      </p:sp>
      <p:sp>
        <p:nvSpPr>
          <p:cNvPr id="7" name="Text 5"/>
          <p:cNvSpPr txBox="1"/>
          <p:nvPr/>
        </p:nvSpPr>
        <p:spPr>
          <a:xfrm>
            <a:off x="457200" y="1097280"/>
            <a:ext cx="822960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Selecting a card navigates to a details route carrying the movie id</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The page finds the matching movie in the same local JSON by id; no extra request is needed</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Poster, overview, genres, duration, showtimes and rating come straight from that record</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Ratings use Bootstrap Icons; the Book Tickets button moves to seat selection with the chosen movie</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4572000" y="0"/>
            <a:ext cx="4572000" cy="73152"/>
          </a:xfrm>
          <a:prstGeom prst="rect">
            <a:avLst/>
          </a:prstGeom>
          <a:solidFill>
            <a:srgbClr val="8B5CF6"/>
          </a:solidFill>
          <a:ln w="12700">
            <a:solidFill>
              <a:srgbClr val="8B5CF6"/>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8EEFB"/>
                </a:solidFill>
                <a:latin typeface="Calibri" pitchFamily="34" charset="0"/>
                <a:ea typeface="Calibri" pitchFamily="34" charset="-122"/>
                <a:cs typeface="Calibri" pitchFamily="34" charset="-120"/>
              </a:rPr>
              <a:t>Step 3: Seat Selection</a:t>
            </a:r>
            <a:endParaRPr lang="en-US" sz="2800" dirty="0"/>
          </a:p>
        </p:txBody>
      </p:sp>
      <p:sp>
        <p:nvSpPr>
          <p:cNvPr id="5" name="Text 3"/>
          <p:cNvSpPr txBox="1"/>
          <p:nvPr/>
        </p:nvSpPr>
        <p:spPr>
          <a:xfrm>
            <a:off x="457200" y="4617720"/>
            <a:ext cx="7315200" cy="274320"/>
          </a:xfrm>
          <a:prstGeom prst="rect">
            <a:avLst/>
          </a:prstGeom>
          <a:noFill/>
          <a:ln/>
        </p:spPr>
        <p:txBody>
          <a:bodyPr wrap="square" lIns="0" tIns="0" rIns="0" bIns="0" rtlCol="0" anchor="ctr"/>
          <a:lstStyle/>
          <a:p>
            <a:pPr marL="0" indent="0">
              <a:buNone/>
            </a:pPr>
            <a:r>
              <a:rPr lang="en-US" sz="1000" i="1" dirty="0">
                <a:solidFill>
                  <a:srgbClr val="93A4C3"/>
                </a:solidFill>
                <a:latin typeface="Calibri" pitchFamily="34" charset="0"/>
                <a:ea typeface="Calibri" pitchFamily="34" charset="-122"/>
                <a:cs typeface="Calibri" pitchFamily="34" charset="-120"/>
              </a:rPr>
              <a:t>Inferred from README and dependencies - to be confirmed against src/ code.</a:t>
            </a:r>
            <a:endParaRPr lang="en-US" sz="1000" dirty="0"/>
          </a:p>
        </p:txBody>
      </p:sp>
      <p:sp>
        <p:nvSpPr>
          <p:cNvPr id="6" name="Text 4"/>
          <p:cNvSpPr txBox="1"/>
          <p:nvPr/>
        </p:nvSpPr>
        <p:spPr>
          <a:xfrm>
            <a:off x="8229600" y="4663440"/>
            <a:ext cx="457200" cy="274320"/>
          </a:xfrm>
          <a:prstGeom prst="rect">
            <a:avLst/>
          </a:prstGeom>
          <a:noFill/>
          <a:ln/>
        </p:spPr>
        <p:txBody>
          <a:bodyPr wrap="square" lIns="0" tIns="0" rIns="0" bIns="0" rtlCol="0" anchor="ctr"/>
          <a:lstStyle/>
          <a:p>
            <a:pPr marL="0" indent="0" algn="r">
              <a:buNone/>
            </a:pPr>
            <a:r>
              <a:rPr lang="en-US" sz="1000" dirty="0">
                <a:solidFill>
                  <a:srgbClr val="93A4C3"/>
                </a:solidFill>
                <a:latin typeface="Calibri" pitchFamily="34" charset="0"/>
                <a:ea typeface="Calibri" pitchFamily="34" charset="-122"/>
                <a:cs typeface="Calibri" pitchFamily="34" charset="-120"/>
              </a:rPr>
              <a:t>11</a:t>
            </a:r>
            <a:endParaRPr lang="en-US" sz="1000" dirty="0"/>
          </a:p>
        </p:txBody>
      </p:sp>
      <p:sp>
        <p:nvSpPr>
          <p:cNvPr id="7" name="Text 5"/>
          <p:cNvSpPr txBox="1"/>
          <p:nvPr/>
        </p:nvSpPr>
        <p:spPr>
          <a:xfrm>
            <a:off x="457200" y="1097280"/>
            <a:ext cx="822960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The selected movie (from JSON) supplies the title, show time and ticket price</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A grid of seats is rendered from an array; each seat is available, selected or booked</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Clicking a seat updates state; the selected list and total price recalculate on each render</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Booked seats for that movie and show are read from LocalStorage and are disabled</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Continue passes movie, seats and amount to the payment step</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4572000" y="0"/>
            <a:ext cx="4572000" cy="73152"/>
          </a:xfrm>
          <a:prstGeom prst="rect">
            <a:avLst/>
          </a:prstGeom>
          <a:solidFill>
            <a:srgbClr val="8B5CF6"/>
          </a:solidFill>
          <a:ln w="12700">
            <a:solidFill>
              <a:srgbClr val="8B5CF6"/>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8EEFB"/>
                </a:solidFill>
                <a:latin typeface="Calibri" pitchFamily="34" charset="0"/>
                <a:ea typeface="Calibri" pitchFamily="34" charset="-122"/>
                <a:cs typeface="Calibri" pitchFamily="34" charset="-120"/>
              </a:rPr>
              <a:t>Step 4: Login and Signup</a:t>
            </a:r>
            <a:endParaRPr lang="en-US" sz="2800" dirty="0"/>
          </a:p>
        </p:txBody>
      </p:sp>
      <p:sp>
        <p:nvSpPr>
          <p:cNvPr id="5" name="Text 3"/>
          <p:cNvSpPr txBox="1"/>
          <p:nvPr/>
        </p:nvSpPr>
        <p:spPr>
          <a:xfrm>
            <a:off x="457200" y="4617720"/>
            <a:ext cx="7315200" cy="274320"/>
          </a:xfrm>
          <a:prstGeom prst="rect">
            <a:avLst/>
          </a:prstGeom>
          <a:noFill/>
          <a:ln/>
        </p:spPr>
        <p:txBody>
          <a:bodyPr wrap="square" lIns="0" tIns="0" rIns="0" bIns="0" rtlCol="0" anchor="ctr"/>
          <a:lstStyle/>
          <a:p>
            <a:pPr marL="0" indent="0">
              <a:buNone/>
            </a:pPr>
            <a:r>
              <a:rPr lang="en-US" sz="1000" i="1" dirty="0">
                <a:solidFill>
                  <a:srgbClr val="93A4C3"/>
                </a:solidFill>
                <a:latin typeface="Calibri" pitchFamily="34" charset="0"/>
                <a:ea typeface="Calibri" pitchFamily="34" charset="-122"/>
                <a:cs typeface="Calibri" pitchFamily="34" charset="-120"/>
              </a:rPr>
              <a:t>Inferred from README and dependencies - to be confirmed against src/ code.</a:t>
            </a:r>
            <a:endParaRPr lang="en-US" sz="1000" dirty="0"/>
          </a:p>
        </p:txBody>
      </p:sp>
      <p:sp>
        <p:nvSpPr>
          <p:cNvPr id="6" name="Text 4"/>
          <p:cNvSpPr txBox="1"/>
          <p:nvPr/>
        </p:nvSpPr>
        <p:spPr>
          <a:xfrm>
            <a:off x="8229600" y="4663440"/>
            <a:ext cx="457200" cy="274320"/>
          </a:xfrm>
          <a:prstGeom prst="rect">
            <a:avLst/>
          </a:prstGeom>
          <a:noFill/>
          <a:ln/>
        </p:spPr>
        <p:txBody>
          <a:bodyPr wrap="square" lIns="0" tIns="0" rIns="0" bIns="0" rtlCol="0" anchor="ctr"/>
          <a:lstStyle/>
          <a:p>
            <a:pPr marL="0" indent="0" algn="r">
              <a:buNone/>
            </a:pPr>
            <a:r>
              <a:rPr lang="en-US" sz="1000" dirty="0">
                <a:solidFill>
                  <a:srgbClr val="93A4C3"/>
                </a:solidFill>
                <a:latin typeface="Calibri" pitchFamily="34" charset="0"/>
                <a:ea typeface="Calibri" pitchFamily="34" charset="-122"/>
                <a:cs typeface="Calibri" pitchFamily="34" charset="-120"/>
              </a:rPr>
              <a:t>12</a:t>
            </a:r>
            <a:endParaRPr lang="en-US" sz="1000" dirty="0"/>
          </a:p>
        </p:txBody>
      </p:sp>
      <p:sp>
        <p:nvSpPr>
          <p:cNvPr id="7" name="Text 5"/>
          <p:cNvSpPr txBox="1"/>
          <p:nvPr/>
        </p:nvSpPr>
        <p:spPr>
          <a:xfrm>
            <a:off x="457200" y="1097280"/>
            <a:ext cx="822960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Signup validates input and saves the user to LocalStorage; login checks the saved users</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The active session is stored so the app knows who is booking and whose bookings to show</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Protected steps (payment, bookings) redirect to login when no session exists</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Note: LocalStorage auth suits a demo; a real app needs a backend and hashed passwords</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4572000" y="0"/>
            <a:ext cx="4572000" cy="73152"/>
          </a:xfrm>
          <a:prstGeom prst="rect">
            <a:avLst/>
          </a:prstGeom>
          <a:solidFill>
            <a:srgbClr val="8B5CF6"/>
          </a:solidFill>
          <a:ln w="12700">
            <a:solidFill>
              <a:srgbClr val="8B5CF6"/>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8EEFB"/>
                </a:solidFill>
                <a:latin typeface="Calibri" pitchFamily="34" charset="0"/>
                <a:ea typeface="Calibri" pitchFamily="34" charset="-122"/>
                <a:cs typeface="Calibri" pitchFamily="34" charset="-120"/>
              </a:rPr>
              <a:t>Step 5: Payment and Booking Confirmation</a:t>
            </a:r>
            <a:endParaRPr lang="en-US" sz="2800" dirty="0"/>
          </a:p>
        </p:txBody>
      </p:sp>
      <p:sp>
        <p:nvSpPr>
          <p:cNvPr id="5" name="Text 3"/>
          <p:cNvSpPr txBox="1"/>
          <p:nvPr/>
        </p:nvSpPr>
        <p:spPr>
          <a:xfrm>
            <a:off x="457200" y="4617720"/>
            <a:ext cx="7315200" cy="274320"/>
          </a:xfrm>
          <a:prstGeom prst="rect">
            <a:avLst/>
          </a:prstGeom>
          <a:noFill/>
          <a:ln/>
        </p:spPr>
        <p:txBody>
          <a:bodyPr wrap="square" lIns="0" tIns="0" rIns="0" bIns="0" rtlCol="0" anchor="ctr"/>
          <a:lstStyle/>
          <a:p>
            <a:pPr marL="0" indent="0">
              <a:buNone/>
            </a:pPr>
            <a:r>
              <a:rPr lang="en-US" sz="1000" i="1" dirty="0">
                <a:solidFill>
                  <a:srgbClr val="93A4C3"/>
                </a:solidFill>
                <a:latin typeface="Calibri" pitchFamily="34" charset="0"/>
                <a:ea typeface="Calibri" pitchFamily="34" charset="-122"/>
                <a:cs typeface="Calibri" pitchFamily="34" charset="-120"/>
              </a:rPr>
              <a:t>Inferred from README and dependencies - to be confirmed against src/ code.</a:t>
            </a:r>
            <a:endParaRPr lang="en-US" sz="1000" dirty="0"/>
          </a:p>
        </p:txBody>
      </p:sp>
      <p:sp>
        <p:nvSpPr>
          <p:cNvPr id="6" name="Text 4"/>
          <p:cNvSpPr txBox="1"/>
          <p:nvPr/>
        </p:nvSpPr>
        <p:spPr>
          <a:xfrm>
            <a:off x="8229600" y="4663440"/>
            <a:ext cx="457200" cy="274320"/>
          </a:xfrm>
          <a:prstGeom prst="rect">
            <a:avLst/>
          </a:prstGeom>
          <a:noFill/>
          <a:ln/>
        </p:spPr>
        <p:txBody>
          <a:bodyPr wrap="square" lIns="0" tIns="0" rIns="0" bIns="0" rtlCol="0" anchor="ctr"/>
          <a:lstStyle/>
          <a:p>
            <a:pPr marL="0" indent="0" algn="r">
              <a:buNone/>
            </a:pPr>
            <a:r>
              <a:rPr lang="en-US" sz="1000" dirty="0">
                <a:solidFill>
                  <a:srgbClr val="93A4C3"/>
                </a:solidFill>
                <a:latin typeface="Calibri" pitchFamily="34" charset="0"/>
                <a:ea typeface="Calibri" pitchFamily="34" charset="-122"/>
                <a:cs typeface="Calibri" pitchFamily="34" charset="-120"/>
              </a:rPr>
              <a:t>13</a:t>
            </a:r>
            <a:endParaRPr lang="en-US" sz="1000" dirty="0"/>
          </a:p>
        </p:txBody>
      </p:sp>
      <p:sp>
        <p:nvSpPr>
          <p:cNvPr id="7" name="Text 5"/>
          <p:cNvSpPr txBox="1"/>
          <p:nvPr/>
        </p:nvSpPr>
        <p:spPr>
          <a:xfrm>
            <a:off x="457200" y="1097280"/>
            <a:ext cx="822960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Payment form validates card details; the amount comes from seats x JSON price</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On success the booking (movie id and title from JSON, seats, show time, amount, user) is saved to LocalStorage</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The confirmation page shows the ticket with a QR code generated by qrcode.react</a:t>
            </a:r>
            <a:endParaRPr lang="en-US" sz="1600" dirty="0"/>
          </a:p>
          <a:p>
            <a:pPr marL="342900" indent="-342900">
              <a:spcAft>
                <a:spcPts val="1000"/>
              </a:spcAft>
              <a:buSzPct val="100000"/>
              <a:buChar char="•"/>
            </a:pPr>
            <a:r>
              <a:rPr lang="en-US" sz="1600" dirty="0">
                <a:solidFill>
                  <a:srgbClr val="E8EEFB"/>
                </a:solidFill>
                <a:latin typeface="Calibri" pitchFamily="34" charset="0"/>
                <a:ea typeface="Calibri" pitchFamily="34" charset="-122"/>
                <a:cs typeface="Calibri" pitchFamily="34" charset="-120"/>
              </a:rPr>
              <a:t>My Bookings reads the saved list, joining each booking with its movie details from the JSON file</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4572000" y="0"/>
            <a:ext cx="4572000" cy="73152"/>
          </a:xfrm>
          <a:prstGeom prst="rect">
            <a:avLst/>
          </a:prstGeom>
          <a:solidFill>
            <a:srgbClr val="8B5CF6"/>
          </a:solidFill>
          <a:ln w="12700">
            <a:solidFill>
              <a:srgbClr val="8B5CF6"/>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8EEFB"/>
                </a:solidFill>
                <a:latin typeface="Calibri" pitchFamily="34" charset="0"/>
                <a:ea typeface="Calibri" pitchFamily="34" charset="-122"/>
                <a:cs typeface="Calibri" pitchFamily="34" charset="-120"/>
              </a:rPr>
              <a:t>React Lifecycle Used in the Project</a:t>
            </a:r>
            <a:endParaRPr lang="en-US" sz="2800" dirty="0"/>
          </a:p>
        </p:txBody>
      </p:sp>
      <p:sp>
        <p:nvSpPr>
          <p:cNvPr id="5" name="Text 3"/>
          <p:cNvSpPr txBox="1"/>
          <p:nvPr/>
        </p:nvSpPr>
        <p:spPr>
          <a:xfrm>
            <a:off x="457200" y="4617720"/>
            <a:ext cx="7315200" cy="274320"/>
          </a:xfrm>
          <a:prstGeom prst="rect">
            <a:avLst/>
          </a:prstGeom>
          <a:noFill/>
          <a:ln/>
        </p:spPr>
        <p:txBody>
          <a:bodyPr wrap="square" lIns="0" tIns="0" rIns="0" bIns="0" rtlCol="0" anchor="ctr"/>
          <a:lstStyle/>
          <a:p>
            <a:pPr marL="0" indent="0">
              <a:buNone/>
            </a:pPr>
            <a:r>
              <a:rPr lang="en-US" sz="1000" i="1" dirty="0">
                <a:solidFill>
                  <a:srgbClr val="93A4C3"/>
                </a:solidFill>
                <a:latin typeface="Calibri" pitchFamily="34" charset="0"/>
                <a:ea typeface="Calibri" pitchFamily="34" charset="-122"/>
                <a:cs typeface="Calibri" pitchFamily="34" charset="-120"/>
              </a:rPr>
              <a:t>Inferred from README and dependencies - to be confirmed against src/ code.</a:t>
            </a:r>
            <a:endParaRPr lang="en-US" sz="1000" dirty="0"/>
          </a:p>
        </p:txBody>
      </p:sp>
      <p:sp>
        <p:nvSpPr>
          <p:cNvPr id="6" name="Text 4"/>
          <p:cNvSpPr txBox="1"/>
          <p:nvPr/>
        </p:nvSpPr>
        <p:spPr>
          <a:xfrm>
            <a:off x="8229600" y="4663440"/>
            <a:ext cx="457200" cy="274320"/>
          </a:xfrm>
          <a:prstGeom prst="rect">
            <a:avLst/>
          </a:prstGeom>
          <a:noFill/>
          <a:ln/>
        </p:spPr>
        <p:txBody>
          <a:bodyPr wrap="square" lIns="0" tIns="0" rIns="0" bIns="0" rtlCol="0" anchor="ctr"/>
          <a:lstStyle/>
          <a:p>
            <a:pPr marL="0" indent="0" algn="r">
              <a:buNone/>
            </a:pPr>
            <a:r>
              <a:rPr lang="en-US" sz="1000" dirty="0">
                <a:solidFill>
                  <a:srgbClr val="93A4C3"/>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773680"/>
        </p:xfrm>
        <a:graphic>
          <a:graphicData uri="http://schemas.openxmlformats.org/drawingml/2006/table">
            <a:tbl>
              <a:tblPr/>
              <a:tblGrid>
                <a:gridCol w="14630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06121F"/>
                          </a:solidFill>
                          <a:latin typeface="Calibri" pitchFamily="34" charset="0"/>
                          <a:ea typeface="Calibri" pitchFamily="34" charset="-122"/>
                          <a:cs typeface="Calibri" pitchFamily="34" charset="-120"/>
                        </a:rPr>
                        <a:t>Phase</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2D3EE"/>
                    </a:solidFill>
                  </a:tcPr>
                </a:tc>
                <a:tc>
                  <a:txBody>
                    <a:bodyPr/>
                    <a:lstStyle/>
                    <a:p>
                      <a:pPr marL="0" indent="0">
                        <a:buNone/>
                      </a:pPr>
                      <a:r>
                        <a:rPr lang="en-US" sz="1300" b="1" dirty="0">
                          <a:solidFill>
                            <a:srgbClr val="06121F"/>
                          </a:solidFill>
                          <a:latin typeface="Calibri" pitchFamily="34" charset="0"/>
                          <a:ea typeface="Calibri" pitchFamily="34" charset="-122"/>
                          <a:cs typeface="Calibri" pitchFamily="34" charset="-120"/>
                        </a:rPr>
                        <a:t>Class equivalent</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2D3EE"/>
                    </a:solidFill>
                  </a:tcPr>
                </a:tc>
                <a:tc>
                  <a:txBody>
                    <a:bodyPr/>
                    <a:lstStyle/>
                    <a:p>
                      <a:pPr marL="0" indent="0">
                        <a:buNone/>
                      </a:pPr>
                      <a:r>
                        <a:rPr lang="en-US" sz="1300" b="1" dirty="0">
                          <a:solidFill>
                            <a:srgbClr val="06121F"/>
                          </a:solidFill>
                          <a:latin typeface="Calibri" pitchFamily="34" charset="0"/>
                          <a:ea typeface="Calibri" pitchFamily="34" charset="-122"/>
                          <a:cs typeface="Calibri" pitchFamily="34" charset="-120"/>
                        </a:rPr>
                        <a:t>Hook in Movix</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Mounting</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componentDidMount</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useEffect(() =&gt; {...}, []) loads movies from local JSON</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extLst>
                  <a:ext uri="{0D108BD9-81ED-4DB2-BD59-A6C34878D82A}">
                    <a16:rowId xmlns:a16="http://schemas.microsoft.com/office/drawing/2014/main" val="10001"/>
                  </a:ext>
                </a:extLst>
              </a:tr>
              <a:tr h="457200">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Updating</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componentDidUpdate</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useEffect with deps, e.g. [query] or [id] re-filters or re-finds a movie</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extLst>
                  <a:ext uri="{0D108BD9-81ED-4DB2-BD59-A6C34878D82A}">
                    <a16:rowId xmlns:a16="http://schemas.microsoft.com/office/drawing/2014/main" val="10002"/>
                  </a:ext>
                </a:extLst>
              </a:tr>
              <a:tr h="457200">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Unmounting</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componentWillUnmount</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Cleanup function returned from useEffect</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extLst>
                  <a:ext uri="{0D108BD9-81ED-4DB2-BD59-A6C34878D82A}">
                    <a16:rowId xmlns:a16="http://schemas.microsoft.com/office/drawing/2014/main" val="10003"/>
                  </a:ext>
                </a:extLst>
              </a:tr>
              <a:tr h="457200">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State</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this.state / setState</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useState for movies, search, seats, forms, user</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extLst>
                  <a:ext uri="{0D108BD9-81ED-4DB2-BD59-A6C34878D82A}">
                    <a16:rowId xmlns:a16="http://schemas.microsoft.com/office/drawing/2014/main" val="10004"/>
                  </a:ext>
                </a:extLst>
              </a:tr>
              <a:tr h="457200">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Routing</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props.match</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tc>
                  <a:txBody>
                    <a:bodyPr/>
                    <a:lstStyle/>
                    <a:p>
                      <a:pPr marL="0" indent="0">
                        <a:buNone/>
                      </a:pPr>
                      <a:r>
                        <a:rPr lang="en-US" sz="1300" dirty="0">
                          <a:solidFill>
                            <a:srgbClr val="E8EEFB"/>
                          </a:solidFill>
                          <a:latin typeface="Calibri" pitchFamily="34" charset="0"/>
                          <a:ea typeface="Calibri" pitchFamily="34" charset="-122"/>
                          <a:cs typeface="Calibri" pitchFamily="34" charset="-120"/>
                        </a:rPr>
                        <a:t>useParams, useNavigate from React Router</a:t>
                      </a:r>
                      <a:endParaRPr lang="en-US" sz="1300" dirty="0">
                        <a:latin typeface="Calibri" charset="0"/>
                        <a:ea typeface="Calibri" charset="0"/>
                        <a:cs typeface="Calibri" charset="0"/>
                      </a:endParaRPr>
                    </a:p>
                  </a:txBody>
                  <a:tcP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238"/>
                    </a:solidFill>
                  </a:tcPr>
                </a:tc>
                <a:extLst>
                  <a:ext uri="{0D108BD9-81ED-4DB2-BD59-A6C34878D82A}">
                    <a16:rowId xmlns:a16="http://schemas.microsoft.com/office/drawing/2014/main" val="10005"/>
                  </a:ext>
                </a:extLst>
              </a:tr>
            </a:tbl>
          </a:graphicData>
        </a:graphic>
      </p:graphicFrame>
      <p:sp>
        <p:nvSpPr>
          <p:cNvPr id="8" name="Text 5"/>
          <p:cNvSpPr txBox="1"/>
          <p:nvPr/>
        </p:nvSpPr>
        <p:spPr>
          <a:xfrm>
            <a:off x="457200" y="4114800"/>
            <a:ext cx="8229600" cy="274320"/>
          </a:xfrm>
          <a:prstGeom prst="rect">
            <a:avLst/>
          </a:prstGeom>
          <a:noFill/>
          <a:ln/>
        </p:spPr>
        <p:txBody>
          <a:bodyPr wrap="square" lIns="0" tIns="0" rIns="0" bIns="0" rtlCol="0" anchor="ctr"/>
          <a:lstStyle/>
          <a:p>
            <a:pPr marL="0" indent="0">
              <a:buNone/>
            </a:pPr>
            <a:r>
              <a:rPr lang="en-US" sz="1200" dirty="0">
                <a:solidFill>
                  <a:srgbClr val="E8EEFB"/>
                </a:solidFill>
                <a:latin typeface="Calibri" pitchFamily="34" charset="0"/>
                <a:ea typeface="Calibri" pitchFamily="34" charset="-122"/>
                <a:cs typeface="Calibri" pitchFamily="34" charset="-120"/>
              </a:rPr>
              <a:t>Project uses React 19 function components, so lifecycle is handled by hooks, not class methods.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4572000" y="0"/>
            <a:ext cx="4572000" cy="73152"/>
          </a:xfrm>
          <a:prstGeom prst="rect">
            <a:avLst/>
          </a:prstGeom>
          <a:solidFill>
            <a:srgbClr val="8B5CF6"/>
          </a:solidFill>
          <a:ln w="12700">
            <a:solidFill>
              <a:srgbClr val="8B5CF6"/>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8EEFB"/>
                </a:solidFill>
                <a:latin typeface="Calibri" pitchFamily="34" charset="0"/>
                <a:ea typeface="Calibri" pitchFamily="34" charset="-122"/>
                <a:cs typeface="Calibri" pitchFamily="34" charset="-120"/>
              </a:rPr>
              <a:t>Setup, Deployment and Conclusion</a:t>
            </a:r>
            <a:endParaRPr lang="en-US" sz="2800" dirty="0"/>
          </a:p>
        </p:txBody>
      </p:sp>
      <p:sp>
        <p:nvSpPr>
          <p:cNvPr id="5" name="Text 3"/>
          <p:cNvSpPr txBox="1"/>
          <p:nvPr/>
        </p:nvSpPr>
        <p:spPr>
          <a:xfrm>
            <a:off x="8229600" y="4663440"/>
            <a:ext cx="457200" cy="274320"/>
          </a:xfrm>
          <a:prstGeom prst="rect">
            <a:avLst/>
          </a:prstGeom>
          <a:noFill/>
          <a:ln/>
        </p:spPr>
        <p:txBody>
          <a:bodyPr wrap="square" lIns="0" tIns="0" rIns="0" bIns="0" rtlCol="0" anchor="ctr"/>
          <a:lstStyle/>
          <a:p>
            <a:pPr marL="0" indent="0" algn="r">
              <a:buNone/>
            </a:pPr>
            <a:r>
              <a:rPr lang="en-US" sz="1000" dirty="0">
                <a:solidFill>
                  <a:srgbClr val="93A4C3"/>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457200" y="1188720"/>
            <a:ext cx="2621280" cy="2377440"/>
          </a:xfrm>
          <a:prstGeom prst="rect">
            <a:avLst/>
          </a:prstGeom>
          <a:solidFill>
            <a:srgbClr val="152238"/>
          </a:solidFill>
          <a:ln w="12700">
            <a:solidFill>
              <a:srgbClr val="24365A"/>
            </a:solidFill>
            <a:prstDash val="solid"/>
          </a:ln>
        </p:spPr>
      </p:sp>
      <p:sp>
        <p:nvSpPr>
          <p:cNvPr id="7" name="Shape 5"/>
          <p:cNvSpPr/>
          <p:nvPr/>
        </p:nvSpPr>
        <p:spPr>
          <a:xfrm>
            <a:off x="457200" y="1188720"/>
            <a:ext cx="2621280" cy="64008"/>
          </a:xfrm>
          <a:prstGeom prst="rect">
            <a:avLst/>
          </a:prstGeom>
          <a:solidFill>
            <a:srgbClr val="22D3EE"/>
          </a:solidFill>
          <a:ln w="12700">
            <a:solidFill>
              <a:srgbClr val="22D3EE"/>
            </a:solidFill>
            <a:prstDash val="solid"/>
          </a:ln>
        </p:spPr>
      </p:sp>
      <p:sp>
        <p:nvSpPr>
          <p:cNvPr id="8" name="Text 6"/>
          <p:cNvSpPr txBox="1"/>
          <p:nvPr/>
        </p:nvSpPr>
        <p:spPr>
          <a:xfrm>
            <a:off x="594360" y="1371600"/>
            <a:ext cx="2346960"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Run locally</a:t>
            </a:r>
            <a:endParaRPr lang="en-US" sz="1500" dirty="0"/>
          </a:p>
        </p:txBody>
      </p:sp>
      <p:sp>
        <p:nvSpPr>
          <p:cNvPr id="9" name="Text 7"/>
          <p:cNvSpPr txBox="1"/>
          <p:nvPr/>
        </p:nvSpPr>
        <p:spPr>
          <a:xfrm>
            <a:off x="594360" y="1874520"/>
            <a:ext cx="2346960" cy="155448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git clone, npm install, npm run dev. No API key or .env is needed because movie data is local JSON</a:t>
            </a:r>
            <a:endParaRPr lang="en-US" sz="1250" dirty="0"/>
          </a:p>
        </p:txBody>
      </p:sp>
      <p:sp>
        <p:nvSpPr>
          <p:cNvPr id="10" name="Shape 8"/>
          <p:cNvSpPr/>
          <p:nvPr/>
        </p:nvSpPr>
        <p:spPr>
          <a:xfrm>
            <a:off x="3261360" y="1188720"/>
            <a:ext cx="2621280" cy="2377440"/>
          </a:xfrm>
          <a:prstGeom prst="rect">
            <a:avLst/>
          </a:prstGeom>
          <a:solidFill>
            <a:srgbClr val="152238"/>
          </a:solidFill>
          <a:ln w="12700">
            <a:solidFill>
              <a:srgbClr val="24365A"/>
            </a:solidFill>
            <a:prstDash val="solid"/>
          </a:ln>
        </p:spPr>
      </p:sp>
      <p:sp>
        <p:nvSpPr>
          <p:cNvPr id="11" name="Shape 9"/>
          <p:cNvSpPr/>
          <p:nvPr/>
        </p:nvSpPr>
        <p:spPr>
          <a:xfrm>
            <a:off x="3261360" y="1188720"/>
            <a:ext cx="2621280" cy="64008"/>
          </a:xfrm>
          <a:prstGeom prst="rect">
            <a:avLst/>
          </a:prstGeom>
          <a:solidFill>
            <a:srgbClr val="8B5CF6"/>
          </a:solidFill>
          <a:ln w="12700">
            <a:solidFill>
              <a:srgbClr val="8B5CF6"/>
            </a:solidFill>
            <a:prstDash val="solid"/>
          </a:ln>
        </p:spPr>
      </p:sp>
      <p:sp>
        <p:nvSpPr>
          <p:cNvPr id="12" name="Text 10"/>
          <p:cNvSpPr txBox="1"/>
          <p:nvPr/>
        </p:nvSpPr>
        <p:spPr>
          <a:xfrm>
            <a:off x="3398520" y="1371600"/>
            <a:ext cx="2346960"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Deploy</a:t>
            </a:r>
            <a:endParaRPr lang="en-US" sz="1500" dirty="0"/>
          </a:p>
        </p:txBody>
      </p:sp>
      <p:sp>
        <p:nvSpPr>
          <p:cNvPr id="13" name="Text 11"/>
          <p:cNvSpPr txBox="1"/>
          <p:nvPr/>
        </p:nvSpPr>
        <p:spPr>
          <a:xfrm>
            <a:off x="3398520" y="1874520"/>
            <a:ext cx="2346960" cy="155448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npm run build, then deploy in the </a:t>
            </a:r>
            <a:r>
              <a:rPr lang="en-US" sz="1250" dirty="0" err="1">
                <a:solidFill>
                  <a:srgbClr val="E8EEFB"/>
                </a:solidFill>
                <a:latin typeface="Calibri" pitchFamily="34" charset="0"/>
                <a:ea typeface="Calibri" pitchFamily="34" charset="-122"/>
                <a:cs typeface="Calibri" pitchFamily="34" charset="-120"/>
              </a:rPr>
              <a:t>vercel</a:t>
            </a:r>
            <a:r>
              <a:rPr lang="en-US" sz="1250" dirty="0">
                <a:solidFill>
                  <a:srgbClr val="E8EEFB"/>
                </a:solidFill>
                <a:latin typeface="Calibri" pitchFamily="34" charset="0"/>
                <a:ea typeface="Calibri" pitchFamily="34" charset="-122"/>
                <a:cs typeface="Calibri" pitchFamily="34" charset="-120"/>
              </a:rPr>
              <a:t> (live demo link in README)</a:t>
            </a:r>
            <a:endParaRPr lang="en-US" sz="1250" dirty="0"/>
          </a:p>
        </p:txBody>
      </p:sp>
      <p:sp>
        <p:nvSpPr>
          <p:cNvPr id="14" name="Shape 12"/>
          <p:cNvSpPr/>
          <p:nvPr/>
        </p:nvSpPr>
        <p:spPr>
          <a:xfrm>
            <a:off x="6065520" y="1188720"/>
            <a:ext cx="2621280" cy="2377440"/>
          </a:xfrm>
          <a:prstGeom prst="rect">
            <a:avLst/>
          </a:prstGeom>
          <a:solidFill>
            <a:srgbClr val="152238"/>
          </a:solidFill>
          <a:ln w="12700">
            <a:solidFill>
              <a:srgbClr val="24365A"/>
            </a:solidFill>
            <a:prstDash val="solid"/>
          </a:ln>
        </p:spPr>
      </p:sp>
      <p:sp>
        <p:nvSpPr>
          <p:cNvPr id="15" name="Shape 13"/>
          <p:cNvSpPr/>
          <p:nvPr/>
        </p:nvSpPr>
        <p:spPr>
          <a:xfrm>
            <a:off x="6065520" y="1188720"/>
            <a:ext cx="2621280" cy="64008"/>
          </a:xfrm>
          <a:prstGeom prst="rect">
            <a:avLst/>
          </a:prstGeom>
          <a:solidFill>
            <a:srgbClr val="22D3EE"/>
          </a:solidFill>
          <a:ln w="12700">
            <a:solidFill>
              <a:srgbClr val="22D3EE"/>
            </a:solidFill>
            <a:prstDash val="solid"/>
          </a:ln>
        </p:spPr>
      </p:sp>
      <p:sp>
        <p:nvSpPr>
          <p:cNvPr id="16" name="Text 14"/>
          <p:cNvSpPr txBox="1"/>
          <p:nvPr/>
        </p:nvSpPr>
        <p:spPr>
          <a:xfrm>
            <a:off x="6202680" y="1371600"/>
            <a:ext cx="2346960" cy="45720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Next steps</a:t>
            </a:r>
            <a:endParaRPr lang="en-US" sz="1500" dirty="0"/>
          </a:p>
        </p:txBody>
      </p:sp>
      <p:sp>
        <p:nvSpPr>
          <p:cNvPr id="17" name="Text 15"/>
          <p:cNvSpPr txBox="1"/>
          <p:nvPr/>
        </p:nvSpPr>
        <p:spPr>
          <a:xfrm>
            <a:off x="6202680" y="1874520"/>
            <a:ext cx="2346960" cy="1554480"/>
          </a:xfrm>
          <a:prstGeom prst="rect">
            <a:avLst/>
          </a:prstGeom>
          <a:noFill/>
          <a:ln/>
        </p:spPr>
        <p:txBody>
          <a:bodyPr wrap="square" lIns="0" tIns="0" rIns="0" bIns="0" rtlCol="0" anchor="t"/>
          <a:lstStyle/>
          <a:p>
            <a:pPr marL="0" indent="0">
              <a:buNone/>
            </a:pPr>
            <a:r>
              <a:rPr lang="en-US" sz="1250" dirty="0">
                <a:solidFill>
                  <a:srgbClr val="E8EEFB"/>
                </a:solidFill>
                <a:latin typeface="Calibri" pitchFamily="34" charset="0"/>
                <a:ea typeface="Calibri" pitchFamily="34" charset="-122"/>
                <a:cs typeface="Calibri" pitchFamily="34" charset="-120"/>
              </a:rPr>
              <a:t>Real backend and database, secure auth, real payment gateway, tests</a:t>
            </a:r>
            <a:endParaRPr lang="en-US" sz="1250" dirty="0"/>
          </a:p>
        </p:txBody>
      </p:sp>
      <p:sp>
        <p:nvSpPr>
          <p:cNvPr id="18" name="Text 16"/>
          <p:cNvSpPr txBox="1"/>
          <p:nvPr/>
        </p:nvSpPr>
        <p:spPr>
          <a:xfrm>
            <a:off x="457200" y="4206240"/>
            <a:ext cx="8229600" cy="457200"/>
          </a:xfrm>
          <a:prstGeom prst="rect">
            <a:avLst/>
          </a:prstGeom>
          <a:noFill/>
          <a:ln/>
        </p:spPr>
        <p:txBody>
          <a:bodyPr wrap="square" lIns="0" tIns="0" rIns="0" bIns="0" rtlCol="0" anchor="ctr"/>
          <a:lstStyle/>
          <a:p>
            <a:pPr marL="0" indent="0">
              <a:buNone/>
            </a:pPr>
            <a:r>
              <a:rPr lang="en-US" sz="1800" b="1" dirty="0">
                <a:solidFill>
                  <a:srgbClr val="22D3EE"/>
                </a:solidFill>
                <a:latin typeface="Calibri" pitchFamily="34" charset="0"/>
                <a:ea typeface="Calibri" pitchFamily="34" charset="-122"/>
                <a:cs typeface="Calibri" pitchFamily="34" charset="-120"/>
              </a:rPr>
              <a:t>Movix: your cinema experience starts here.</a:t>
            </a:r>
          </a:p>
          <a:p>
            <a:pPr marL="0" indent="0">
              <a:buNone/>
            </a:pPr>
            <a:r>
              <a:rPr lang="en-US" b="1" dirty="0">
                <a:solidFill>
                  <a:srgbClr val="22D3EE"/>
                </a:solidFill>
                <a:latin typeface="Calibri" pitchFamily="34" charset="0"/>
                <a:ea typeface="Calibri" pitchFamily="34" charset="-122"/>
                <a:cs typeface="Calibri" pitchFamily="34" charset="-120"/>
              </a:rPr>
              <a:t>				</a:t>
            </a:r>
          </a:p>
          <a:p>
            <a:pPr lvl="7"/>
            <a:r>
              <a:rPr lang="en-US" dirty="0">
                <a:solidFill>
                  <a:srgbClr val="22D3EE"/>
                </a:solidFill>
                <a:latin typeface="Calibri" pitchFamily="34" charset="0"/>
                <a:ea typeface="Calibri" pitchFamily="34" charset="-122"/>
                <a:cs typeface="Calibri" pitchFamily="34" charset="-120"/>
              </a:rPr>
              <a:t>THANK YOU</a:t>
            </a:r>
          </a:p>
          <a:p>
            <a:pPr lvl="7"/>
            <a:endParaRPr lang="en-US" dirty="0">
              <a:solidFill>
                <a:srgbClr val="22D3EE"/>
              </a:solidFill>
              <a:latin typeface="Calibri" pitchFamily="34" charset="0"/>
              <a:ea typeface="Calibri" pitchFamily="34" charset="-122"/>
              <a:cs typeface="Calibri" pitchFamily="34" charset="-120"/>
            </a:endParaRPr>
          </a:p>
          <a:p>
            <a:pPr marL="0" indent="0">
              <a:buNone/>
            </a:pPr>
            <a:endParaRPr lang="en-US" sz="1800" dirty="0"/>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1280</Words>
  <Application>Microsoft Office PowerPoint</Application>
  <PresentationFormat>On-screen Show (16:9)</PresentationFormat>
  <Paragraphs>166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MOVIX - Movie Ticket Booking</dc:title>
  <dc:subject>PptxGenJS Presentation</dc:subject>
  <dc:creator>PptxGenJS</dc:creator>
  <cp:lastModifiedBy>PRABHAS DHANIKONDA</cp:lastModifiedBy>
  <cp:revision>3</cp:revision>
  <dcterms:created xsi:type="dcterms:W3CDTF">2026-10-29T06:42:24Z</dcterms:created>
  <dcterms:modified xsi:type="dcterms:W3CDTF">2026-10-29T07:07:15Z</dcterms:modified>
</cp:coreProperties>
</file>